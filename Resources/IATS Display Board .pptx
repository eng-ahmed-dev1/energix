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2918400" cx="43891200"/>
  <p:notesSz cx="7004050" cy="92900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 uri="GoogleSlidesCustomDataVersion2">
      <go:slidesCustomData xmlns:go="http://customooxmlschemas.google.com/" r:id="rId8" roundtripDataSignature="AMtx7mi/gOtrUQjXCuiJcZPYPmn/cfg+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03760E-2E4A-4A22-B883-B0AF43733D40}">
  <a:tblStyle styleId="{EB03760E-2E4A-4A22-B883-B0AF43733D40}"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8107AD16-9757-4BE5-AE0E-33A249BAAD1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67575" y="696750"/>
            <a:ext cx="4669600" cy="3483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0400" y="4412750"/>
            <a:ext cx="5603225" cy="41805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1:notes"/>
          <p:cNvSpPr txBox="1"/>
          <p:nvPr>
            <p:ph idx="1" type="body"/>
          </p:nvPr>
        </p:nvSpPr>
        <p:spPr>
          <a:xfrm>
            <a:off x="700400" y="4412750"/>
            <a:ext cx="5603225" cy="418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 name="Google Shape;38;p1:notes"/>
          <p:cNvSpPr/>
          <p:nvPr>
            <p:ph idx="2" type="sldImg"/>
          </p:nvPr>
        </p:nvSpPr>
        <p:spPr>
          <a:xfrm>
            <a:off x="1179513" y="696913"/>
            <a:ext cx="4645025" cy="34829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3"/>
          <p:cNvSpPr txBox="1"/>
          <p:nvPr>
            <p:ph type="title"/>
          </p:nvPr>
        </p:nvSpPr>
        <p:spPr>
          <a:xfrm>
            <a:off x="2194560" y="1318262"/>
            <a:ext cx="39502080" cy="5486400"/>
          </a:xfrm>
          <a:prstGeom prst="rect">
            <a:avLst/>
          </a:prstGeom>
          <a:noFill/>
          <a:ln>
            <a:noFill/>
          </a:ln>
        </p:spPr>
        <p:txBody>
          <a:bodyPr anchorCtr="0" anchor="ctr" bIns="164550" lIns="329125" spcFirstLastPara="1" rIns="329125" wrap="square" tIns="1645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 type="body"/>
          </p:nvPr>
        </p:nvSpPr>
        <p:spPr>
          <a:xfrm>
            <a:off x="2194560" y="7680963"/>
            <a:ext cx="39502080" cy="21724623"/>
          </a:xfrm>
          <a:prstGeom prst="rect">
            <a:avLst/>
          </a:prstGeom>
          <a:noFill/>
          <a:ln>
            <a:noFill/>
          </a:ln>
        </p:spPr>
        <p:txBody>
          <a:bodyPr anchorCtr="0" anchor="t" bIns="164550" lIns="329125" spcFirstLastPara="1" rIns="329125" wrap="square" tIns="16455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 name="Google Shape;14;p3"/>
          <p:cNvSpPr txBox="1"/>
          <p:nvPr>
            <p:ph idx="10" type="dt"/>
          </p:nvPr>
        </p:nvSpPr>
        <p:spPr>
          <a:xfrm>
            <a:off x="2194560" y="30510483"/>
            <a:ext cx="10241280" cy="1752600"/>
          </a:xfrm>
          <a:prstGeom prst="rect">
            <a:avLst/>
          </a:prstGeom>
          <a:noFill/>
          <a:ln>
            <a:noFill/>
          </a:ln>
        </p:spPr>
        <p:txBody>
          <a:bodyPr anchorCtr="0" anchor="ctr" bIns="164550" lIns="329125" spcFirstLastPara="1" rIns="329125" wrap="square" tIns="1645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1" type="ftr"/>
          </p:nvPr>
        </p:nvSpPr>
        <p:spPr>
          <a:xfrm>
            <a:off x="14996160" y="30510483"/>
            <a:ext cx="13898880" cy="1752600"/>
          </a:xfrm>
          <a:prstGeom prst="rect">
            <a:avLst/>
          </a:prstGeom>
          <a:noFill/>
          <a:ln>
            <a:noFill/>
          </a:ln>
        </p:spPr>
        <p:txBody>
          <a:bodyPr anchorCtr="0" anchor="ctr" bIns="164550" lIns="329125" spcFirstLastPara="1" rIns="329125" wrap="square" tIns="1645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2" type="sldNum"/>
          </p:nvPr>
        </p:nvSpPr>
        <p:spPr>
          <a:xfrm>
            <a:off x="31455360" y="30510483"/>
            <a:ext cx="10241280" cy="1752600"/>
          </a:xfrm>
          <a:prstGeom prst="rect">
            <a:avLst/>
          </a:prstGeom>
          <a:noFill/>
          <a:ln>
            <a:noFill/>
          </a:ln>
        </p:spPr>
        <p:txBody>
          <a:bodyPr anchorCtr="0" anchor="ctr" bIns="164550" lIns="329125" spcFirstLastPara="1" rIns="329125" wrap="square" tIns="164550">
            <a:noAutofit/>
          </a:bodyPr>
          <a:lstStyle>
            <a:lvl1pPr indent="0" lvl="0" marL="0" marR="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4"/>
          <p:cNvSpPr/>
          <p:nvPr/>
        </p:nvSpPr>
        <p:spPr>
          <a:xfrm>
            <a:off x="43159680" y="0"/>
            <a:ext cx="731520" cy="32918400"/>
          </a:xfrm>
          <a:prstGeom prst="rect">
            <a:avLst/>
          </a:prstGeom>
          <a:solidFill>
            <a:srgbClr val="D6E3BC"/>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6400"/>
              <a:buFont typeface="Arial"/>
              <a:buNone/>
            </a:pPr>
            <a:r>
              <a:t/>
            </a:r>
            <a:endParaRPr b="0" i="0" sz="6400" u="none" cap="none" strike="noStrike">
              <a:solidFill>
                <a:schemeClr val="lt1"/>
              </a:solidFill>
              <a:latin typeface="Calibri"/>
              <a:ea typeface="Calibri"/>
              <a:cs typeface="Calibri"/>
              <a:sym typeface="Calibri"/>
            </a:endParaRPr>
          </a:p>
        </p:txBody>
      </p:sp>
      <p:sp>
        <p:nvSpPr>
          <p:cNvPr id="19" name="Google Shape;19;p4"/>
          <p:cNvSpPr/>
          <p:nvPr/>
        </p:nvSpPr>
        <p:spPr>
          <a:xfrm>
            <a:off x="0" y="0"/>
            <a:ext cx="731520" cy="32918400"/>
          </a:xfrm>
          <a:prstGeom prst="rect">
            <a:avLst/>
          </a:prstGeom>
          <a:solidFill>
            <a:srgbClr val="D6E3BC"/>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6400"/>
              <a:buFont typeface="Arial"/>
              <a:buNone/>
            </a:pPr>
            <a:r>
              <a:t/>
            </a:r>
            <a:endParaRPr b="0" i="0" sz="6400" u="none" cap="none" strike="noStrike">
              <a:solidFill>
                <a:schemeClr val="lt1"/>
              </a:solidFill>
              <a:latin typeface="Calibri"/>
              <a:ea typeface="Calibri"/>
              <a:cs typeface="Calibri"/>
              <a:sym typeface="Calibri"/>
            </a:endParaRPr>
          </a:p>
        </p:txBody>
      </p:sp>
      <p:sp>
        <p:nvSpPr>
          <p:cNvPr id="20" name="Google Shape;20;p4"/>
          <p:cNvSpPr/>
          <p:nvPr/>
        </p:nvSpPr>
        <p:spPr>
          <a:xfrm>
            <a:off x="0" y="0"/>
            <a:ext cx="43891200" cy="4114800"/>
          </a:xfrm>
          <a:prstGeom prst="rect">
            <a:avLst/>
          </a:prstGeom>
          <a:solidFill>
            <a:srgbClr val="366092"/>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6400"/>
              <a:buFont typeface="Arial"/>
              <a:buNone/>
            </a:pPr>
            <a:r>
              <a:t/>
            </a:r>
            <a:endParaRPr b="0" i="0" sz="6400" u="none" cap="none" strike="noStrike">
              <a:solidFill>
                <a:schemeClr val="lt1"/>
              </a:solidFill>
              <a:latin typeface="Calibri"/>
              <a:ea typeface="Calibri"/>
              <a:cs typeface="Calibri"/>
              <a:sym typeface="Calibri"/>
            </a:endParaRPr>
          </a:p>
        </p:txBody>
      </p:sp>
      <p:sp>
        <p:nvSpPr>
          <p:cNvPr id="21" name="Google Shape;21;p4"/>
          <p:cNvSpPr/>
          <p:nvPr/>
        </p:nvSpPr>
        <p:spPr>
          <a:xfrm>
            <a:off x="0" y="28803600"/>
            <a:ext cx="43891200" cy="4114800"/>
          </a:xfrm>
          <a:prstGeom prst="rect">
            <a:avLst/>
          </a:prstGeom>
          <a:solidFill>
            <a:srgbClr val="B7CCE4"/>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6400"/>
              <a:buFont typeface="Arial"/>
              <a:buNone/>
            </a:pPr>
            <a:r>
              <a:t/>
            </a:r>
            <a:endParaRPr b="0" i="0" sz="6400" u="none" cap="none" strike="noStrike">
              <a:solidFill>
                <a:schemeClr val="lt1"/>
              </a:solidFill>
              <a:latin typeface="Calibri"/>
              <a:ea typeface="Calibri"/>
              <a:cs typeface="Calibri"/>
              <a:sym typeface="Calibri"/>
            </a:endParaRPr>
          </a:p>
        </p:txBody>
      </p:sp>
      <p:sp>
        <p:nvSpPr>
          <p:cNvPr id="22" name="Google Shape;22;p4"/>
          <p:cNvSpPr/>
          <p:nvPr/>
        </p:nvSpPr>
        <p:spPr>
          <a:xfrm>
            <a:off x="-10515600" y="0"/>
            <a:ext cx="9601200" cy="32918400"/>
          </a:xfrm>
          <a:prstGeom prst="rect">
            <a:avLst/>
          </a:prstGeom>
          <a:solidFill>
            <a:srgbClr val="D8D8D8"/>
          </a:solidFill>
          <a:ln>
            <a:noFill/>
          </a:ln>
        </p:spPr>
        <p:txBody>
          <a:bodyPr anchorCtr="0" anchor="t" bIns="171400" lIns="171400" spcFirstLastPara="1" rIns="171400" wrap="square" tIns="171400">
            <a:noAutofit/>
          </a:bodyPr>
          <a:lstStyle/>
          <a:p>
            <a:pPr indent="0" lvl="0" marL="0" marR="0" rtl="0" algn="l">
              <a:lnSpc>
                <a:spcPct val="100000"/>
              </a:lnSpc>
              <a:spcBef>
                <a:spcPts val="0"/>
              </a:spcBef>
              <a:spcAft>
                <a:spcPts val="0"/>
              </a:spcAft>
              <a:buClr>
                <a:srgbClr val="000000"/>
              </a:buClr>
              <a:buSzPts val="7200"/>
              <a:buFont typeface="Arial"/>
              <a:buNone/>
            </a:pPr>
            <a:r>
              <a:rPr b="0" i="0" lang="en-US" sz="7200" u="none" cap="none" strike="noStrike">
                <a:solidFill>
                  <a:srgbClr val="7F7F7F"/>
                </a:solidFill>
                <a:latin typeface="Calibri"/>
                <a:ea typeface="Calibri"/>
                <a:cs typeface="Calibri"/>
                <a:sym typeface="Calibri"/>
              </a:rPr>
              <a:t>Poster Print Size:</a:t>
            </a:r>
            <a:endParaRPr b="0" i="0" sz="72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This poster template is 36” high by 48” wide. It can be used to print a Tri-Fold poster with 12” wings.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7200"/>
              <a:buFont typeface="Arial"/>
              <a:buNone/>
            </a:pPr>
            <a:r>
              <a:rPr b="0" i="0" lang="en-US" sz="7200" u="none" cap="none" strike="noStrike">
                <a:solidFill>
                  <a:srgbClr val="7F7F7F"/>
                </a:solidFill>
                <a:latin typeface="Calibri"/>
                <a:ea typeface="Calibri"/>
                <a:cs typeface="Calibri"/>
                <a:sym typeface="Calibri"/>
              </a:rPr>
              <a:t>Placeholders: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7200"/>
              <a:buFont typeface="Arial"/>
              <a:buNone/>
            </a:pPr>
            <a:r>
              <a:rPr b="0" i="0" lang="en-US" sz="7200" u="none" cap="none" strike="noStrike">
                <a:solidFill>
                  <a:srgbClr val="7F7F7F"/>
                </a:solidFill>
                <a:latin typeface="Calibri"/>
                <a:ea typeface="Calibri"/>
                <a:cs typeface="Calibri"/>
                <a:sym typeface="Calibri"/>
              </a:rPr>
              <a:t>Image Quality: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You can place digital photos or logo art in your poster file by selecting the </a:t>
            </a:r>
            <a:r>
              <a:rPr b="1" i="0" lang="en-US" sz="4900" u="none" cap="none" strike="noStrike">
                <a:solidFill>
                  <a:srgbClr val="7F7F7F"/>
                </a:solidFill>
                <a:latin typeface="Calibri"/>
                <a:ea typeface="Calibri"/>
                <a:cs typeface="Calibri"/>
                <a:sym typeface="Calibri"/>
              </a:rPr>
              <a:t>Insert, Picture</a:t>
            </a:r>
            <a:r>
              <a:rPr b="0" i="0" lang="en-US" sz="4900" u="none" cap="none" strike="noStrike">
                <a:solidFill>
                  <a:srgbClr val="7F7F7F"/>
                </a:solidFill>
                <a:latin typeface="Calibri"/>
                <a:ea typeface="Calibri"/>
                <a:cs typeface="Calibri"/>
                <a:sym typeface="Calibri"/>
              </a:rPr>
              <a:t> command, or by using standard copy &amp; paste. For best results, all graphic elements should be at least </a:t>
            </a:r>
            <a:r>
              <a:rPr b="1" i="0" lang="en-US" sz="4900" u="none" cap="none" strike="noStrike">
                <a:solidFill>
                  <a:srgbClr val="7F7F7F"/>
                </a:solidFill>
                <a:latin typeface="Calibri"/>
                <a:ea typeface="Calibri"/>
                <a:cs typeface="Calibri"/>
                <a:sym typeface="Calibri"/>
              </a:rPr>
              <a:t>150-200 pixels per inch in their final printed size</a:t>
            </a:r>
            <a:r>
              <a:rPr b="0" i="0" lang="en-US" sz="4900" u="none" cap="none" strike="noStrike">
                <a:solidFill>
                  <a:srgbClr val="7F7F7F"/>
                </a:solidFill>
                <a:latin typeface="Calibri"/>
                <a:ea typeface="Calibri"/>
                <a:cs typeface="Calibri"/>
                <a:sym typeface="Calibri"/>
              </a:rPr>
              <a:t>. For instance, a 1600 x 1200 pixel photo will usually look fine up to 8“-10” wide on your printed poster.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800"/>
              </a:spcBef>
              <a:spcAft>
                <a:spcPts val="0"/>
              </a:spcAft>
              <a:buClr>
                <a:srgbClr val="000000"/>
              </a:buClr>
              <a:buSzPts val="3600"/>
              <a:buFont typeface="Arial"/>
              <a:buNone/>
            </a:pPr>
            <a:br>
              <a:rPr b="0" i="0" lang="en-US" sz="3600" u="none" cap="none" strike="noStrike">
                <a:solidFill>
                  <a:srgbClr val="7F7F7F"/>
                </a:solidFill>
                <a:latin typeface="Calibri"/>
                <a:ea typeface="Calibri"/>
                <a:cs typeface="Calibri"/>
                <a:sym typeface="Calibri"/>
              </a:rPr>
            </a:br>
            <a:r>
              <a:rPr b="0" i="0" lang="en-US" sz="3600" u="none" cap="none" strike="noStrike">
                <a:solidFill>
                  <a:srgbClr val="7F7F7F"/>
                </a:solidFill>
                <a:latin typeface="Calibri"/>
                <a:ea typeface="Calibri"/>
                <a:cs typeface="Calibri"/>
                <a:sym typeface="Calibri"/>
              </a:rPr>
              <a:t>[This sidebar area does not print.]</a:t>
            </a:r>
            <a:endParaRPr b="0" i="0" sz="1400" u="none" cap="none" strike="noStrike">
              <a:solidFill>
                <a:srgbClr val="000000"/>
              </a:solidFill>
              <a:latin typeface="Arial"/>
              <a:ea typeface="Arial"/>
              <a:cs typeface="Arial"/>
              <a:sym typeface="Arial"/>
            </a:endParaRPr>
          </a:p>
        </p:txBody>
      </p:sp>
      <p:grpSp>
        <p:nvGrpSpPr>
          <p:cNvPr id="23" name="Google Shape;23;p4"/>
          <p:cNvGrpSpPr/>
          <p:nvPr/>
        </p:nvGrpSpPr>
        <p:grpSpPr>
          <a:xfrm>
            <a:off x="44805600" y="0"/>
            <a:ext cx="9601200" cy="32918400"/>
            <a:chOff x="33832800" y="0"/>
            <a:chExt cx="12801600" cy="43891200"/>
          </a:xfrm>
        </p:grpSpPr>
        <p:sp>
          <p:nvSpPr>
            <p:cNvPr id="24" name="Google Shape;24;p4"/>
            <p:cNvSpPr/>
            <p:nvPr/>
          </p:nvSpPr>
          <p:spPr>
            <a:xfrm>
              <a:off x="33832800" y="0"/>
              <a:ext cx="12801600" cy="43891200"/>
            </a:xfrm>
            <a:prstGeom prst="rect">
              <a:avLst/>
            </a:prstGeom>
            <a:solidFill>
              <a:srgbClr val="D8D8D8"/>
            </a:solidFill>
            <a:ln>
              <a:noFill/>
            </a:ln>
          </p:spPr>
          <p:txBody>
            <a:bodyPr anchorCtr="0" anchor="t" bIns="228600" lIns="228600" spcFirstLastPara="1" rIns="228600" wrap="square" tIns="228600">
              <a:noAutofit/>
            </a:bodyPr>
            <a:lstStyle/>
            <a:p>
              <a:pPr indent="0" lvl="0" marL="0" marR="0" rtl="0" algn="l">
                <a:lnSpc>
                  <a:spcPct val="100000"/>
                </a:lnSpc>
                <a:spcBef>
                  <a:spcPts val="0"/>
                </a:spcBef>
                <a:spcAft>
                  <a:spcPts val="0"/>
                </a:spcAft>
                <a:buClr>
                  <a:srgbClr val="000000"/>
                </a:buClr>
                <a:buSzPts val="7200"/>
                <a:buFont typeface="Arial"/>
                <a:buNone/>
              </a:pPr>
              <a:r>
                <a:rPr b="0" i="0" lang="en-US" sz="7200" u="none" cap="none" strike="noStrike">
                  <a:solidFill>
                    <a:srgbClr val="7F7F7F"/>
                  </a:solidFill>
                  <a:latin typeface="Calibri"/>
                  <a:ea typeface="Calibri"/>
                  <a:cs typeface="Calibri"/>
                  <a:sym typeface="Calibri"/>
                </a:rPr>
                <a:t>Change Color Theme:</a:t>
              </a:r>
              <a:endParaRPr b="0" i="0" sz="72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This template is designed to use the built-in color themes in the newer versions of PowerPoint.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To change the color theme, select the </a:t>
              </a:r>
              <a:r>
                <a:rPr b="1" i="0" lang="en-US" sz="4900" u="none" cap="none" strike="noStrike">
                  <a:solidFill>
                    <a:srgbClr val="7F7F7F"/>
                  </a:solidFill>
                  <a:latin typeface="Calibri"/>
                  <a:ea typeface="Calibri"/>
                  <a:cs typeface="Calibri"/>
                  <a:sym typeface="Calibri"/>
                </a:rPr>
                <a:t>Design</a:t>
              </a:r>
              <a:r>
                <a:rPr b="0" i="0" lang="en-US" sz="4900" u="none" cap="none" strike="noStrike">
                  <a:solidFill>
                    <a:srgbClr val="7F7F7F"/>
                  </a:solidFill>
                  <a:latin typeface="Calibri"/>
                  <a:ea typeface="Calibri"/>
                  <a:cs typeface="Calibri"/>
                  <a:sym typeface="Calibri"/>
                </a:rPr>
                <a:t> tab, then select the </a:t>
              </a:r>
              <a:r>
                <a:rPr b="1" i="0" lang="en-US" sz="4900" u="none" cap="none" strike="noStrike">
                  <a:solidFill>
                    <a:srgbClr val="7F7F7F"/>
                  </a:solidFill>
                  <a:latin typeface="Calibri"/>
                  <a:ea typeface="Calibri"/>
                  <a:cs typeface="Calibri"/>
                  <a:sym typeface="Calibri"/>
                </a:rPr>
                <a:t>Colors</a:t>
              </a:r>
              <a:r>
                <a:rPr b="0" i="0" lang="en-US" sz="4900" u="none" cap="none" strike="noStrike">
                  <a:solidFill>
                    <a:srgbClr val="7F7F7F"/>
                  </a:solidFill>
                  <a:latin typeface="Calibri"/>
                  <a:ea typeface="Calibri"/>
                  <a:cs typeface="Calibri"/>
                  <a:sym typeface="Calibri"/>
                </a:rPr>
                <a:t> drop-down list.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The default color theme for this template is “Office”, so you can always return to that after trying some of the alternatives.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7200"/>
                <a:buFont typeface="Arial"/>
                <a:buNone/>
              </a:pPr>
              <a:r>
                <a:rPr b="0" i="0" lang="en-US" sz="7200" u="none" cap="none" strike="noStrike">
                  <a:solidFill>
                    <a:srgbClr val="7F7F7F"/>
                  </a:solidFill>
                  <a:latin typeface="Calibri"/>
                  <a:ea typeface="Calibri"/>
                  <a:cs typeface="Calibri"/>
                  <a:sym typeface="Calibri"/>
                </a:rPr>
                <a:t>Printing Your Poster: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Once your poster file is ready, visit </a:t>
              </a:r>
              <a:r>
                <a:rPr b="1" i="0" lang="en-US" sz="4900" u="none" cap="none" strike="noStrike">
                  <a:solidFill>
                    <a:srgbClr val="7F7F7F"/>
                  </a:solidFill>
                  <a:latin typeface="Calibri"/>
                  <a:ea typeface="Calibri"/>
                  <a:cs typeface="Calibri"/>
                  <a:sym typeface="Calibri"/>
                </a:rPr>
                <a:t>www.genigraphics.com</a:t>
              </a:r>
              <a:r>
                <a:rPr b="0" i="0" lang="en-US" sz="4900" u="none" cap="none" strike="noStrik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4900"/>
                <a:buFont typeface="Arial"/>
                <a:buNone/>
              </a:pPr>
              <a:r>
                <a:t/>
              </a:r>
              <a:endParaRPr b="0" i="0" sz="4900" u="none" cap="none" strike="noStrike">
                <a:solidFill>
                  <a:srgbClr val="7F7F7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900"/>
                <a:buFont typeface="Arial"/>
                <a:buNone/>
              </a:pPr>
              <a:r>
                <a:rPr b="0" i="0" lang="en-US" sz="4900" u="none" cap="none" strike="noStrike">
                  <a:solidFill>
                    <a:srgbClr val="7F7F7F"/>
                  </a:solidFill>
                  <a:latin typeface="Calibri"/>
                  <a:ea typeface="Calibri"/>
                  <a:cs typeface="Calibri"/>
                  <a:sym typeface="Calibri"/>
                </a:rPr>
                <a:t>US and Canada:  1-800-790-4001</a:t>
              </a:r>
              <a:br>
                <a:rPr b="0" i="0" lang="en-US" sz="4900" u="none" cap="none" strike="noStrike">
                  <a:solidFill>
                    <a:srgbClr val="7F7F7F"/>
                  </a:solidFill>
                  <a:latin typeface="Calibri"/>
                  <a:ea typeface="Calibri"/>
                  <a:cs typeface="Calibri"/>
                  <a:sym typeface="Calibri"/>
                </a:rPr>
              </a:br>
              <a:r>
                <a:rPr b="0" i="0" lang="en-US" sz="4900" u="none" cap="none" strike="noStrike">
                  <a:solidFill>
                    <a:srgbClr val="7F7F7F"/>
                  </a:solidFill>
                  <a:latin typeface="Calibri"/>
                  <a:ea typeface="Calibri"/>
                  <a:cs typeface="Calibri"/>
                  <a:sym typeface="Calibri"/>
                </a:rPr>
                <a:t>Email: info@genigraphics.com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br>
                <a:rPr b="0" i="0" lang="en-US" sz="3600" u="none" cap="none" strike="noStrike">
                  <a:solidFill>
                    <a:srgbClr val="7F7F7F"/>
                  </a:solidFill>
                  <a:latin typeface="Calibri"/>
                  <a:ea typeface="Calibri"/>
                  <a:cs typeface="Calibri"/>
                  <a:sym typeface="Calibri"/>
                </a:rPr>
              </a:br>
              <a:r>
                <a:rPr b="0" i="0" lang="en-US" sz="3600" u="none" cap="none" strike="noStrike">
                  <a:solidFill>
                    <a:srgbClr val="7F7F7F"/>
                  </a:solidFill>
                  <a:latin typeface="Calibri"/>
                  <a:ea typeface="Calibri"/>
                  <a:cs typeface="Calibri"/>
                  <a:sym typeface="Calibri"/>
                </a:rPr>
                <a:t>[This sidebar area does not print.]</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2">
              <a:alphaModFix/>
            </a:blip>
            <a:srcRect b="0" l="0" r="0" t="0"/>
            <a:stretch/>
          </p:blipFill>
          <p:spPr>
            <a:xfrm>
              <a:off x="34281342" y="9260274"/>
              <a:ext cx="11904515" cy="10246926"/>
            </a:xfrm>
            <a:prstGeom prst="rect">
              <a:avLst/>
            </a:prstGeom>
            <a:noFill/>
            <a:ln>
              <a:noFill/>
            </a:ln>
          </p:spPr>
        </p:pic>
      </p:grpSp>
      <p:grpSp>
        <p:nvGrpSpPr>
          <p:cNvPr id="26" name="Google Shape;26;p4"/>
          <p:cNvGrpSpPr/>
          <p:nvPr/>
        </p:nvGrpSpPr>
        <p:grpSpPr>
          <a:xfrm>
            <a:off x="7033287" y="-1257300"/>
            <a:ext cx="29923713" cy="35653980"/>
            <a:chOff x="7033287" y="-1257300"/>
            <a:chExt cx="29923713" cy="35653980"/>
          </a:xfrm>
        </p:grpSpPr>
        <p:sp>
          <p:nvSpPr>
            <p:cNvPr id="27" name="Google Shape;27;p4"/>
            <p:cNvSpPr txBox="1"/>
            <p:nvPr/>
          </p:nvSpPr>
          <p:spPr>
            <a:xfrm>
              <a:off x="7033287" y="-1247269"/>
              <a:ext cx="363471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400"/>
                <a:buFont typeface="Arial"/>
                <a:buNone/>
              </a:pPr>
              <a:r>
                <a:rPr b="0" i="0" lang="en-US" sz="6400" u="none" cap="none" strike="noStrike">
                  <a:solidFill>
                    <a:srgbClr val="7F7F7F"/>
                  </a:solidFill>
                  <a:latin typeface="Calibri"/>
                  <a:ea typeface="Calibri"/>
                  <a:cs typeface="Calibri"/>
                  <a:sym typeface="Calibri"/>
                </a:rPr>
                <a:t>Folds here</a:t>
              </a:r>
              <a:endParaRPr b="0" i="0" sz="1400" u="none" cap="none" strike="noStrike">
                <a:solidFill>
                  <a:srgbClr val="000000"/>
                </a:solidFill>
                <a:latin typeface="Arial"/>
                <a:ea typeface="Arial"/>
                <a:cs typeface="Arial"/>
                <a:sym typeface="Arial"/>
              </a:endParaRPr>
            </a:p>
          </p:txBody>
        </p:sp>
        <p:cxnSp>
          <p:nvCxnSpPr>
            <p:cNvPr id="28" name="Google Shape;28;p4"/>
            <p:cNvCxnSpPr/>
            <p:nvPr/>
          </p:nvCxnSpPr>
          <p:spPr>
            <a:xfrm>
              <a:off x="10972800" y="-1257300"/>
              <a:ext cx="0" cy="1097280"/>
            </a:xfrm>
            <a:prstGeom prst="straightConnector1">
              <a:avLst/>
            </a:prstGeom>
            <a:noFill/>
            <a:ln cap="flat" cmpd="sng" w="63500">
              <a:solidFill>
                <a:srgbClr val="7F7F7F"/>
              </a:solidFill>
              <a:prstDash val="solid"/>
              <a:round/>
              <a:headEnd len="sm" w="sm" type="none"/>
              <a:tailEnd len="med" w="med" type="stealth"/>
            </a:ln>
          </p:spPr>
        </p:cxnSp>
        <p:sp>
          <p:nvSpPr>
            <p:cNvPr id="29" name="Google Shape;29;p4"/>
            <p:cNvSpPr txBox="1"/>
            <p:nvPr/>
          </p:nvSpPr>
          <p:spPr>
            <a:xfrm>
              <a:off x="33322287" y="-1247269"/>
              <a:ext cx="363471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400"/>
                <a:buFont typeface="Arial"/>
                <a:buNone/>
              </a:pPr>
              <a:r>
                <a:rPr b="0" i="0" lang="en-US" sz="6400" u="none" cap="none" strike="noStrike">
                  <a:solidFill>
                    <a:srgbClr val="7F7F7F"/>
                  </a:solidFill>
                  <a:latin typeface="Calibri"/>
                  <a:ea typeface="Calibri"/>
                  <a:cs typeface="Calibri"/>
                  <a:sym typeface="Calibri"/>
                </a:rPr>
                <a:t>Folds here</a:t>
              </a:r>
              <a:endParaRPr b="0" i="0" sz="1400" u="none" cap="none" strike="noStrike">
                <a:solidFill>
                  <a:srgbClr val="000000"/>
                </a:solidFill>
                <a:latin typeface="Arial"/>
                <a:ea typeface="Arial"/>
                <a:cs typeface="Arial"/>
                <a:sym typeface="Arial"/>
              </a:endParaRPr>
            </a:p>
          </p:txBody>
        </p:sp>
        <p:cxnSp>
          <p:nvCxnSpPr>
            <p:cNvPr id="30" name="Google Shape;30;p4"/>
            <p:cNvCxnSpPr/>
            <p:nvPr/>
          </p:nvCxnSpPr>
          <p:spPr>
            <a:xfrm>
              <a:off x="32918400" y="-1257300"/>
              <a:ext cx="0" cy="1097280"/>
            </a:xfrm>
            <a:prstGeom prst="straightConnector1">
              <a:avLst/>
            </a:prstGeom>
            <a:noFill/>
            <a:ln cap="flat" cmpd="sng" w="63500">
              <a:solidFill>
                <a:srgbClr val="7F7F7F"/>
              </a:solidFill>
              <a:prstDash val="solid"/>
              <a:round/>
              <a:headEnd len="sm" w="sm" type="none"/>
              <a:tailEnd len="med" w="med" type="stealth"/>
            </a:ln>
          </p:spPr>
        </p:cxnSp>
        <p:sp>
          <p:nvSpPr>
            <p:cNvPr id="31" name="Google Shape;31;p4"/>
            <p:cNvSpPr txBox="1"/>
            <p:nvPr/>
          </p:nvSpPr>
          <p:spPr>
            <a:xfrm>
              <a:off x="7033287" y="33309431"/>
              <a:ext cx="363471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400"/>
                <a:buFont typeface="Arial"/>
                <a:buNone/>
              </a:pPr>
              <a:r>
                <a:rPr b="0" i="0" lang="en-US" sz="6400" u="none" cap="none" strike="noStrike">
                  <a:solidFill>
                    <a:srgbClr val="7F7F7F"/>
                  </a:solidFill>
                  <a:latin typeface="Calibri"/>
                  <a:ea typeface="Calibri"/>
                  <a:cs typeface="Calibri"/>
                  <a:sym typeface="Calibri"/>
                </a:rPr>
                <a:t>Folds here</a:t>
              </a:r>
              <a:endParaRPr b="0" i="0" sz="1400" u="none" cap="none" strike="noStrike">
                <a:solidFill>
                  <a:srgbClr val="000000"/>
                </a:solidFill>
                <a:latin typeface="Arial"/>
                <a:ea typeface="Arial"/>
                <a:cs typeface="Arial"/>
                <a:sym typeface="Arial"/>
              </a:endParaRPr>
            </a:p>
          </p:txBody>
        </p:sp>
        <p:cxnSp>
          <p:nvCxnSpPr>
            <p:cNvPr id="32" name="Google Shape;32;p4"/>
            <p:cNvCxnSpPr/>
            <p:nvPr/>
          </p:nvCxnSpPr>
          <p:spPr>
            <a:xfrm>
              <a:off x="10972800" y="33299400"/>
              <a:ext cx="0" cy="1097280"/>
            </a:xfrm>
            <a:prstGeom prst="straightConnector1">
              <a:avLst/>
            </a:prstGeom>
            <a:noFill/>
            <a:ln cap="flat" cmpd="sng" w="63500">
              <a:solidFill>
                <a:srgbClr val="7F7F7F"/>
              </a:solidFill>
              <a:prstDash val="solid"/>
              <a:round/>
              <a:headEnd len="med" w="med" type="stealth"/>
              <a:tailEnd len="sm" w="sm" type="none"/>
            </a:ln>
          </p:spPr>
        </p:cxnSp>
        <p:sp>
          <p:nvSpPr>
            <p:cNvPr id="33" name="Google Shape;33;p4"/>
            <p:cNvSpPr txBox="1"/>
            <p:nvPr/>
          </p:nvSpPr>
          <p:spPr>
            <a:xfrm>
              <a:off x="33322287" y="33309431"/>
              <a:ext cx="363471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400"/>
                <a:buFont typeface="Arial"/>
                <a:buNone/>
              </a:pPr>
              <a:r>
                <a:rPr b="0" i="0" lang="en-US" sz="6400" u="none" cap="none" strike="noStrike">
                  <a:solidFill>
                    <a:srgbClr val="7F7F7F"/>
                  </a:solidFill>
                  <a:latin typeface="Calibri"/>
                  <a:ea typeface="Calibri"/>
                  <a:cs typeface="Calibri"/>
                  <a:sym typeface="Calibri"/>
                </a:rPr>
                <a:t>Folds here</a:t>
              </a:r>
              <a:endParaRPr b="0" i="0" sz="1400" u="none" cap="none" strike="noStrike">
                <a:solidFill>
                  <a:srgbClr val="000000"/>
                </a:solidFill>
                <a:latin typeface="Arial"/>
                <a:ea typeface="Arial"/>
                <a:cs typeface="Arial"/>
                <a:sym typeface="Arial"/>
              </a:endParaRPr>
            </a:p>
          </p:txBody>
        </p:sp>
        <p:cxnSp>
          <p:nvCxnSpPr>
            <p:cNvPr id="34" name="Google Shape;34;p4"/>
            <p:cNvCxnSpPr/>
            <p:nvPr/>
          </p:nvCxnSpPr>
          <p:spPr>
            <a:xfrm>
              <a:off x="32918400" y="33299400"/>
              <a:ext cx="0" cy="1097280"/>
            </a:xfrm>
            <a:prstGeom prst="straightConnector1">
              <a:avLst/>
            </a:prstGeom>
            <a:noFill/>
            <a:ln cap="flat" cmpd="sng" w="63500">
              <a:solidFill>
                <a:srgbClr val="7F7F7F"/>
              </a:solidFill>
              <a:prstDash val="solid"/>
              <a:round/>
              <a:headEnd len="med" w="med" type="stealth"/>
              <a:tailEnd len="sm" w="sm" type="none"/>
            </a:ln>
          </p:spPr>
        </p:cxnSp>
      </p:grpSp>
      <p:pic>
        <p:nvPicPr>
          <p:cNvPr id="35" name="Google Shape;35;p4"/>
          <p:cNvPicPr preferRelativeResize="0"/>
          <p:nvPr/>
        </p:nvPicPr>
        <p:blipFill rotWithShape="1">
          <a:blip r:embed="rId3">
            <a:alphaModFix/>
          </a:blip>
          <a:srcRect b="0" l="0" r="0" t="0"/>
          <a:stretch/>
        </p:blipFill>
        <p:spPr>
          <a:xfrm>
            <a:off x="38404800" y="32613600"/>
            <a:ext cx="5297435" cy="1859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194560" y="1318262"/>
            <a:ext cx="39502080" cy="5486400"/>
          </a:xfrm>
          <a:prstGeom prst="rect">
            <a:avLst/>
          </a:prstGeom>
          <a:noFill/>
          <a:ln>
            <a:noFill/>
          </a:ln>
        </p:spPr>
        <p:txBody>
          <a:bodyPr anchorCtr="0" anchor="ctr" bIns="164550" lIns="329125" spcFirstLastPara="1" rIns="329125" wrap="square" tIns="164550">
            <a:normAutofit/>
          </a:bodyPr>
          <a:lstStyle>
            <a:lvl1pPr lvl="0" marR="0" rtl="0" algn="ctr">
              <a:lnSpc>
                <a:spcPct val="10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2194560" y="7680963"/>
            <a:ext cx="39502080" cy="21724623"/>
          </a:xfrm>
          <a:prstGeom prst="rect">
            <a:avLst/>
          </a:prstGeom>
          <a:noFill/>
          <a:ln>
            <a:noFill/>
          </a:ln>
        </p:spPr>
        <p:txBody>
          <a:bodyPr anchorCtr="0" anchor="t" bIns="164550" lIns="329125" spcFirstLastPara="1" rIns="329125" wrap="square" tIns="164550">
            <a:normAutofit/>
          </a:bodyPr>
          <a:lstStyle>
            <a:lvl1pPr indent="-400050" lvl="0" marL="457200" marR="0" rtl="0" algn="l">
              <a:lnSpc>
                <a:spcPct val="100000"/>
              </a:lnSpc>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1pPr>
            <a:lvl2pPr indent="-400050" lvl="1" marL="914400" marR="0" rtl="0" algn="l">
              <a:lnSpc>
                <a:spcPct val="100000"/>
              </a:lnSpc>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2pPr>
            <a:lvl3pPr indent="-400050" lvl="2" marL="1371600" marR="0" rtl="0" algn="l">
              <a:lnSpc>
                <a:spcPct val="100000"/>
              </a:lnSpc>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3pPr>
            <a:lvl4pPr indent="-400050" lvl="3" marL="1828800" marR="0" rtl="0" algn="l">
              <a:lnSpc>
                <a:spcPct val="100000"/>
              </a:lnSpc>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100000"/>
              </a:lnSpc>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685800" lvl="5" marL="2743200" marR="0" rtl="0" algn="l">
              <a:lnSpc>
                <a:spcPct val="100000"/>
              </a:lnSpc>
              <a:spcBef>
                <a:spcPts val="144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100000"/>
              </a:lnSpc>
              <a:spcBef>
                <a:spcPts val="144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100000"/>
              </a:lnSpc>
              <a:spcBef>
                <a:spcPts val="144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100000"/>
              </a:lnSpc>
              <a:spcBef>
                <a:spcPts val="144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2194560" y="30510483"/>
            <a:ext cx="10241280" cy="1752600"/>
          </a:xfrm>
          <a:prstGeom prst="rect">
            <a:avLst/>
          </a:prstGeom>
          <a:noFill/>
          <a:ln>
            <a:noFill/>
          </a:ln>
        </p:spPr>
        <p:txBody>
          <a:bodyPr anchorCtr="0" anchor="ctr" bIns="164550" lIns="329125" spcFirstLastPara="1" rIns="329125" wrap="square" tIns="16455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4996160" y="30510483"/>
            <a:ext cx="13898880" cy="1752600"/>
          </a:xfrm>
          <a:prstGeom prst="rect">
            <a:avLst/>
          </a:prstGeom>
          <a:noFill/>
          <a:ln>
            <a:noFill/>
          </a:ln>
        </p:spPr>
        <p:txBody>
          <a:bodyPr anchorCtr="0" anchor="ctr" bIns="164550" lIns="329125" spcFirstLastPara="1" rIns="329125" wrap="square" tIns="16455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64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31455360" y="30510483"/>
            <a:ext cx="10241280" cy="1752600"/>
          </a:xfrm>
          <a:prstGeom prst="rect">
            <a:avLst/>
          </a:prstGeom>
          <a:noFill/>
          <a:ln>
            <a:noFill/>
          </a:ln>
        </p:spPr>
        <p:txBody>
          <a:bodyPr anchorCtr="0" anchor="ctr" bIns="164550" lIns="329125" spcFirstLastPara="1" rIns="329125" wrap="square" tIns="164550">
            <a:noAutofit/>
          </a:bodyPr>
          <a:lstStyle>
            <a:lvl1pPr indent="0" lvl="0" marL="0" marR="0" rtl="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4400"/>
              <a:buFont typeface="Arial"/>
              <a:buNone/>
              <a:defRPr b="0" i="0" sz="4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12.png"/><Relationship Id="rId22" Type="http://schemas.openxmlformats.org/officeDocument/2006/relationships/image" Target="../media/image16.jpg"/><Relationship Id="rId21" Type="http://schemas.openxmlformats.org/officeDocument/2006/relationships/image" Target="../media/image17.jpg"/><Relationship Id="rId24" Type="http://schemas.openxmlformats.org/officeDocument/2006/relationships/image" Target="../media/image3.png"/><Relationship Id="rId23" Type="http://schemas.openxmlformats.org/officeDocument/2006/relationships/image" Target="../media/image15.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jpg"/><Relationship Id="rId4" Type="http://schemas.openxmlformats.org/officeDocument/2006/relationships/hyperlink" Target="https://www.energy.gov/femp/articles/wireless-occupancy-sensors-lighting-controls-applications-guide-federal-facility" TargetMode="External"/><Relationship Id="rId9" Type="http://schemas.openxmlformats.org/officeDocument/2006/relationships/hyperlink" Target="https://www.enocean-alliance.org/wp-content/uploads/2016/11/Whitepaper__wireless_lighting_controls_payback.pdf" TargetMode="External"/><Relationship Id="rId26" Type="http://schemas.openxmlformats.org/officeDocument/2006/relationships/image" Target="../media/image5.png"/><Relationship Id="rId25" Type="http://schemas.openxmlformats.org/officeDocument/2006/relationships/image" Target="../media/image20.jpg"/><Relationship Id="rId28" Type="http://schemas.openxmlformats.org/officeDocument/2006/relationships/image" Target="../media/image18.png"/><Relationship Id="rId27" Type="http://schemas.openxmlformats.org/officeDocument/2006/relationships/image" Target="../media/image13.png"/><Relationship Id="rId5" Type="http://schemas.openxmlformats.org/officeDocument/2006/relationships/hyperlink" Target="https://www.energy.gov/femp/articles/wireless-occupancy-sensors-lighting-controls-applications-guide-federal-facility" TargetMode="External"/><Relationship Id="rId6" Type="http://schemas.openxmlformats.org/officeDocument/2006/relationships/hyperlink" Target="https://betterbuildingssolutioncenter.energy.gov/sites/default/files/attachments/Wireless-Sensors-Guidance.pdf" TargetMode="External"/><Relationship Id="rId7" Type="http://schemas.openxmlformats.org/officeDocument/2006/relationships/hyperlink" Target="https://betterbuildingssolutioncenter.energy.gov/sites/default/files/attachments/Wireless-Sensors-Guidance.pdf" TargetMode="External"/><Relationship Id="rId8" Type="http://schemas.openxmlformats.org/officeDocument/2006/relationships/hyperlink" Target="https://www.enocean-alliance.org/wp-content/uploads/2016/11/Whitepaper__wireless_lighting_controls_payback.pdf" TargetMode="External"/><Relationship Id="rId11" Type="http://schemas.openxmlformats.org/officeDocument/2006/relationships/hyperlink" Target="https://www.agcled.com/blog/high-bay-light-with-occupancy-sensor-saving-energy-in-warehouse.html" TargetMode="External"/><Relationship Id="rId10" Type="http://schemas.openxmlformats.org/officeDocument/2006/relationships/hyperlink" Target="https://www.agcled.com/blog/high-bay-light-with-occupancy-sensor-saving-energy-in-warehouse.html" TargetMode="External"/><Relationship Id="rId13" Type="http://schemas.openxmlformats.org/officeDocument/2006/relationships/image" Target="../media/image14.png"/><Relationship Id="rId12" Type="http://schemas.openxmlformats.org/officeDocument/2006/relationships/image" Target="../media/image8.png"/><Relationship Id="rId15" Type="http://schemas.openxmlformats.org/officeDocument/2006/relationships/image" Target="../media/image11.png"/><Relationship Id="rId14" Type="http://schemas.openxmlformats.org/officeDocument/2006/relationships/image" Target="../media/image7.png"/><Relationship Id="rId17" Type="http://schemas.openxmlformats.org/officeDocument/2006/relationships/image" Target="../media/image4.png"/><Relationship Id="rId16" Type="http://schemas.openxmlformats.org/officeDocument/2006/relationships/image" Target="../media/image9.png"/><Relationship Id="rId19" Type="http://schemas.openxmlformats.org/officeDocument/2006/relationships/image" Target="../media/image10.png"/><Relationship Id="rId1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
          <p:cNvSpPr txBox="1"/>
          <p:nvPr/>
        </p:nvSpPr>
        <p:spPr>
          <a:xfrm>
            <a:off x="10972800" y="179026"/>
            <a:ext cx="21945600" cy="2651700"/>
          </a:xfrm>
          <a:prstGeom prst="rect">
            <a:avLst/>
          </a:prstGeom>
          <a:noFill/>
          <a:ln>
            <a:noFill/>
          </a:ln>
        </p:spPr>
        <p:txBody>
          <a:bodyPr anchorCtr="0" anchor="ctr" bIns="91425" lIns="137125" spcFirstLastPara="1" rIns="137125" wrap="square" tIns="91425">
            <a:normAutofit/>
          </a:bodyPr>
          <a:lstStyle/>
          <a:p>
            <a:pPr indent="0" lvl="0" marL="0" marR="0" rtl="0" algn="ctr">
              <a:lnSpc>
                <a:spcPct val="100000"/>
              </a:lnSpc>
              <a:spcBef>
                <a:spcPts val="0"/>
              </a:spcBef>
              <a:spcAft>
                <a:spcPts val="0"/>
              </a:spcAft>
              <a:buClr>
                <a:srgbClr val="000000"/>
              </a:buClr>
              <a:buSzPts val="7200"/>
              <a:buFont typeface="Arial"/>
              <a:buNone/>
            </a:pPr>
            <a:r>
              <a:rPr b="1" lang="en-US" sz="7200">
                <a:solidFill>
                  <a:srgbClr val="C00000"/>
                </a:solidFill>
                <a:latin typeface="Calibri"/>
                <a:ea typeface="Calibri"/>
                <a:cs typeface="Calibri"/>
                <a:sym typeface="Calibri"/>
              </a:rPr>
              <a:t>Energy Saver</a:t>
            </a:r>
            <a:endParaRPr b="0" i="0" sz="1400" u="none" cap="none" strike="noStrike">
              <a:solidFill>
                <a:srgbClr val="000000"/>
              </a:solidFill>
              <a:latin typeface="Arial"/>
              <a:ea typeface="Arial"/>
              <a:cs typeface="Arial"/>
              <a:sym typeface="Arial"/>
            </a:endParaRPr>
          </a:p>
        </p:txBody>
      </p:sp>
      <p:sp>
        <p:nvSpPr>
          <p:cNvPr id="41" name="Google Shape;41;p1"/>
          <p:cNvSpPr txBox="1"/>
          <p:nvPr/>
        </p:nvSpPr>
        <p:spPr>
          <a:xfrm>
            <a:off x="10424025" y="2286275"/>
            <a:ext cx="26121900" cy="1714500"/>
          </a:xfrm>
          <a:prstGeom prst="rect">
            <a:avLst/>
          </a:prstGeom>
          <a:noFill/>
          <a:ln>
            <a:noFill/>
          </a:ln>
        </p:spPr>
        <p:txBody>
          <a:bodyPr anchorCtr="0" anchor="ctr" bIns="91425" lIns="137125" spcFirstLastPara="1" rIns="137125" wrap="square" tIns="91425">
            <a:normAutofit lnSpcReduction="20000"/>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366092"/>
                </a:solidFill>
                <a:latin typeface="Calibri"/>
                <a:ea typeface="Calibri"/>
                <a:cs typeface="Calibri"/>
                <a:sym typeface="Calibri"/>
              </a:rPr>
              <a:t>Group Number:  W032526 </a:t>
            </a:r>
            <a:r>
              <a:rPr lang="en-US" sz="4000">
                <a:solidFill>
                  <a:srgbClr val="366092"/>
                </a:solidFill>
                <a:latin typeface="Calibri"/>
                <a:ea typeface="Calibri"/>
                <a:cs typeface="Calibri"/>
                <a:sym typeface="Calibri"/>
              </a:rPr>
              <a:t> </a:t>
            </a:r>
            <a:endParaRPr sz="4000">
              <a:solidFill>
                <a:srgbClr val="36609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366092"/>
                </a:solidFill>
                <a:latin typeface="Calibri"/>
                <a:ea typeface="Calibri"/>
                <a:cs typeface="Calibri"/>
                <a:sym typeface="Calibri"/>
              </a:rPr>
              <a:t>Students Names : </a:t>
            </a:r>
            <a:r>
              <a:rPr lang="en-US" sz="4000">
                <a:solidFill>
                  <a:srgbClr val="366092"/>
                </a:solidFill>
                <a:latin typeface="Calibri"/>
                <a:ea typeface="Calibri"/>
                <a:cs typeface="Calibri"/>
                <a:sym typeface="Calibri"/>
              </a:rPr>
              <a:t>Ahmed Alaa , Belal Rezk , Malak Ahmed , Sohip Osama , Youssef Mohamed</a:t>
            </a:r>
            <a:endParaRPr b="0" baseline="30000" i="0" sz="4000" u="none" cap="none" strike="noStrike">
              <a:solidFill>
                <a:srgbClr val="366092"/>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366092"/>
              </a:solidFill>
              <a:latin typeface="Calibri"/>
              <a:ea typeface="Calibri"/>
              <a:cs typeface="Calibri"/>
              <a:sym typeface="Calibri"/>
            </a:endParaRPr>
          </a:p>
        </p:txBody>
      </p:sp>
      <p:sp>
        <p:nvSpPr>
          <p:cNvPr id="42" name="Google Shape;42;p1"/>
          <p:cNvSpPr txBox="1"/>
          <p:nvPr/>
        </p:nvSpPr>
        <p:spPr>
          <a:xfrm>
            <a:off x="1280150" y="5641422"/>
            <a:ext cx="9144000" cy="652620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37125" lIns="137125" spcFirstLastPara="1" rIns="137125" wrap="square" tIns="137125">
            <a:spAutoFit/>
          </a:bodyPr>
          <a:lstStyle/>
          <a:p>
            <a:pPr indent="0" lvl="0" marL="0" marR="0" rtl="0" algn="l">
              <a:lnSpc>
                <a:spcPct val="100000"/>
              </a:lnSpc>
              <a:spcBef>
                <a:spcPts val="0"/>
              </a:spcBef>
              <a:spcAft>
                <a:spcPts val="0"/>
              </a:spcAft>
              <a:buClr>
                <a:srgbClr val="000000"/>
              </a:buClr>
              <a:buSzPts val="4000"/>
              <a:buFont typeface="Arial"/>
              <a:buNone/>
            </a:pPr>
            <a:r>
              <a:rPr b="1" lang="en-US" sz="2900">
                <a:solidFill>
                  <a:schemeClr val="dk1"/>
                </a:solidFill>
                <a:latin typeface="Calibri"/>
                <a:ea typeface="Calibri"/>
                <a:cs typeface="Calibri"/>
                <a:sym typeface="Calibri"/>
              </a:rPr>
              <a:t>Energy Saver</a:t>
            </a:r>
            <a:r>
              <a:rPr lang="en-US" sz="2900">
                <a:solidFill>
                  <a:schemeClr val="dk1"/>
                </a:solidFill>
                <a:latin typeface="Calibri"/>
                <a:ea typeface="Calibri"/>
                <a:cs typeface="Calibri"/>
                <a:sym typeface="Calibri"/>
              </a:rPr>
              <a:t> is a smart lighting management system designed for large warehouses and hypermarket storage facilities. The system uses multiple motion and heat sensors distributed along warehouse aisles to detect worker presence and automatically adjust lighting levels. When activity is detected, lights increase to 100% for full visibility. During idle periods (15–60 minutes of inactivity), lighting drops to a 20% standby mode to conserve energy while preserving bulb lifespan. Additional features include daylight harvesting (reducing artificial light when natural light is available), dynamic zone allocation (focusing light where workers are concentrated), and automated weekly reports detailing energy savings, light events, zone usage, and sensor health alerts.</a:t>
            </a:r>
            <a:endParaRPr i="0" sz="5800" u="none" cap="none" strike="noStrike">
              <a:solidFill>
                <a:schemeClr val="dk1"/>
              </a:solidFill>
              <a:latin typeface="Calibri"/>
              <a:ea typeface="Calibri"/>
              <a:cs typeface="Calibri"/>
              <a:sym typeface="Calibri"/>
            </a:endParaRPr>
          </a:p>
        </p:txBody>
      </p:sp>
      <p:sp>
        <p:nvSpPr>
          <p:cNvPr id="43" name="Google Shape;43;p1"/>
          <p:cNvSpPr/>
          <p:nvPr/>
        </p:nvSpPr>
        <p:spPr>
          <a:xfrm>
            <a:off x="1280160" y="4800600"/>
            <a:ext cx="9144000" cy="685800"/>
          </a:xfrm>
          <a:prstGeom prst="rect">
            <a:avLst/>
          </a:prstGeom>
          <a:solidFill>
            <a:srgbClr val="366092"/>
          </a:solidFill>
          <a:ln cap="flat" cmpd="sng" w="12700">
            <a:solidFill>
              <a:srgbClr val="395E89"/>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EAF1DD"/>
                </a:solidFill>
                <a:latin typeface="Calibri"/>
                <a:ea typeface="Calibri"/>
                <a:cs typeface="Calibri"/>
                <a:sym typeface="Calibri"/>
              </a:rPr>
              <a:t>Abstract</a:t>
            </a:r>
            <a:endParaRPr b="0" i="0" sz="1400" u="none" cap="none" strike="noStrike">
              <a:solidFill>
                <a:srgbClr val="000000"/>
              </a:solidFill>
              <a:latin typeface="Arial"/>
              <a:ea typeface="Arial"/>
              <a:cs typeface="Arial"/>
              <a:sym typeface="Arial"/>
            </a:endParaRPr>
          </a:p>
        </p:txBody>
      </p:sp>
      <p:sp>
        <p:nvSpPr>
          <p:cNvPr id="44" name="Google Shape;44;p1"/>
          <p:cNvSpPr txBox="1"/>
          <p:nvPr/>
        </p:nvSpPr>
        <p:spPr>
          <a:xfrm>
            <a:off x="33520284" y="5852160"/>
            <a:ext cx="9121200" cy="695730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37125" lIns="137125" spcFirstLastPara="1" rIns="137125" wrap="square" tIns="137125">
            <a:spAutoFit/>
          </a:bodyPr>
          <a:lstStyle/>
          <a:p>
            <a:pPr indent="0" lvl="0" marL="0" marR="0" rtl="0" algn="l">
              <a:lnSpc>
                <a:spcPct val="100000"/>
              </a:lnSpc>
              <a:spcBef>
                <a:spcPts val="0"/>
              </a:spcBef>
              <a:spcAft>
                <a:spcPts val="0"/>
              </a:spcAft>
              <a:buClr>
                <a:srgbClr val="000000"/>
              </a:buClr>
              <a:buSzPts val="4000"/>
              <a:buFont typeface="Arial"/>
              <a:buNone/>
            </a:pPr>
            <a:r>
              <a:rPr lang="en-US" sz="3100">
                <a:solidFill>
                  <a:schemeClr val="dk1"/>
                </a:solidFill>
                <a:latin typeface="Calibri"/>
                <a:ea typeface="Calibri"/>
                <a:cs typeface="Calibri"/>
                <a:sym typeface="Calibri"/>
              </a:rPr>
              <a:t>The Energy Saver system demonstrates a practical, scalable solution for reducing energy waste in warehouse lighting. By combining motion detection, thermal sensing, and ambient light monitoring, the system achieved an average energy reduction of </a:t>
            </a:r>
            <a:r>
              <a:rPr b="1" lang="en-US" sz="3100">
                <a:solidFill>
                  <a:schemeClr val="dk1"/>
                </a:solidFill>
                <a:latin typeface="Calibri"/>
                <a:ea typeface="Calibri"/>
                <a:cs typeface="Calibri"/>
                <a:sym typeface="Calibri"/>
              </a:rPr>
              <a:t>65–70%</a:t>
            </a:r>
            <a:r>
              <a:rPr lang="en-US" sz="3100">
                <a:solidFill>
                  <a:schemeClr val="dk1"/>
                </a:solidFill>
                <a:latin typeface="Calibri"/>
                <a:ea typeface="Calibri"/>
                <a:cs typeface="Calibri"/>
                <a:sym typeface="Calibri"/>
              </a:rPr>
              <a:t> compared to conventional always-on lighting. The 20% standby mode — rather than full shutdown — proved effective in extending bulb lifespan while still delivering substantial savings. Automated weekly reporting adds significant value for facility managers by providing visibility into energy performance and early fault warnings. The system is cost-effective, non-intrusive, and adaptable to various warehouse sizes and layouts.</a:t>
            </a:r>
            <a:endParaRPr i="0" sz="6000" u="none" cap="none" strike="noStrike">
              <a:solidFill>
                <a:schemeClr val="dk1"/>
              </a:solidFill>
              <a:latin typeface="Calibri"/>
              <a:ea typeface="Calibri"/>
              <a:cs typeface="Calibri"/>
              <a:sym typeface="Calibri"/>
            </a:endParaRPr>
          </a:p>
        </p:txBody>
      </p:sp>
      <p:sp>
        <p:nvSpPr>
          <p:cNvPr id="45" name="Google Shape;45;p1"/>
          <p:cNvSpPr/>
          <p:nvPr/>
        </p:nvSpPr>
        <p:spPr>
          <a:xfrm>
            <a:off x="1264920" y="13716000"/>
            <a:ext cx="9159300" cy="685800"/>
          </a:xfrm>
          <a:prstGeom prst="rect">
            <a:avLst/>
          </a:prstGeom>
          <a:solidFill>
            <a:srgbClr val="366092"/>
          </a:solidFill>
          <a:ln cap="flat" cmpd="sng" w="12700">
            <a:solidFill>
              <a:srgbClr val="395E89"/>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EAF1DD"/>
                </a:solidFill>
                <a:latin typeface="Calibri"/>
                <a:ea typeface="Calibri"/>
                <a:cs typeface="Calibri"/>
                <a:sym typeface="Calibri"/>
              </a:rPr>
              <a:t>Introduction</a:t>
            </a:r>
            <a:endParaRPr b="0" i="0" sz="1400" u="none" cap="none" strike="noStrike">
              <a:solidFill>
                <a:srgbClr val="000000"/>
              </a:solidFill>
              <a:latin typeface="Arial"/>
              <a:ea typeface="Arial"/>
              <a:cs typeface="Arial"/>
              <a:sym typeface="Arial"/>
            </a:endParaRPr>
          </a:p>
        </p:txBody>
      </p:sp>
      <p:sp>
        <p:nvSpPr>
          <p:cNvPr id="46" name="Google Shape;46;p1"/>
          <p:cNvSpPr txBox="1"/>
          <p:nvPr/>
        </p:nvSpPr>
        <p:spPr>
          <a:xfrm>
            <a:off x="33467040" y="14173200"/>
            <a:ext cx="9144000" cy="397110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37125" lIns="137125" spcFirstLastPara="1" rIns="137125" wrap="square" tIns="137125">
            <a:spAutoFit/>
          </a:bodyPr>
          <a:lstStyle/>
          <a:p>
            <a:pPr indent="0" lvl="0" marL="0" rtl="0" algn="l">
              <a:spcBef>
                <a:spcPts val="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1- Scale sensor density</a:t>
            </a:r>
            <a:r>
              <a:rPr lang="en-US" sz="2400">
                <a:solidFill>
                  <a:schemeClr val="dk1"/>
                </a:solidFill>
                <a:latin typeface="Calibri"/>
                <a:ea typeface="Calibri"/>
                <a:cs typeface="Calibri"/>
                <a:sym typeface="Calibri"/>
              </a:rPr>
              <a:t> based on aisle length — recommended 1 sensor per every 8–10 meters.</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2- Integrate with existing WMS</a:t>
            </a:r>
            <a:r>
              <a:rPr lang="en-US" sz="2400">
                <a:solidFill>
                  <a:schemeClr val="dk1"/>
                </a:solidFill>
                <a:latin typeface="Calibri"/>
                <a:ea typeface="Calibri"/>
                <a:cs typeface="Calibri"/>
                <a:sym typeface="Calibri"/>
              </a:rPr>
              <a:t> (Warehouse Management Systems) for richer activity data and smarter predictions.</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3- Pilot in cold storage</a:t>
            </a:r>
            <a:r>
              <a:rPr lang="en-US" sz="2400">
                <a:solidFill>
                  <a:schemeClr val="dk1"/>
                </a:solidFill>
                <a:latin typeface="Calibri"/>
                <a:ea typeface="Calibri"/>
                <a:cs typeface="Calibri"/>
                <a:sym typeface="Calibri"/>
              </a:rPr>
              <a:t> facilities first, where lighting energy costs are highest due to the need for constant illumination.</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4- Use occupancy trend data</a:t>
            </a:r>
            <a:r>
              <a:rPr lang="en-US" sz="2400">
                <a:solidFill>
                  <a:schemeClr val="dk1"/>
                </a:solidFill>
                <a:latin typeface="Calibri"/>
                <a:ea typeface="Calibri"/>
                <a:cs typeface="Calibri"/>
                <a:sym typeface="Calibri"/>
              </a:rPr>
              <a:t> from weekly reports to further optimize timeout thresholds per aisle.</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5- Expand to other facility zones</a:t>
            </a:r>
            <a:r>
              <a:rPr lang="en-US" sz="2400">
                <a:solidFill>
                  <a:schemeClr val="dk1"/>
                </a:solidFill>
                <a:latin typeface="Calibri"/>
                <a:ea typeface="Calibri"/>
                <a:cs typeface="Calibri"/>
                <a:sym typeface="Calibri"/>
              </a:rPr>
              <a:t> (loading bays, offices, restrooms) using the same sensor logic.</a:t>
            </a:r>
            <a:endParaRPr sz="2400">
              <a:solidFill>
                <a:schemeClr val="dk1"/>
              </a:solidFill>
              <a:latin typeface="Calibri"/>
              <a:ea typeface="Calibri"/>
              <a:cs typeface="Calibri"/>
              <a:sym typeface="Calibri"/>
            </a:endParaRPr>
          </a:p>
        </p:txBody>
      </p:sp>
      <p:sp>
        <p:nvSpPr>
          <p:cNvPr id="47" name="Google Shape;47;p1"/>
          <p:cNvSpPr txBox="1"/>
          <p:nvPr/>
        </p:nvSpPr>
        <p:spPr>
          <a:xfrm>
            <a:off x="11521440" y="5687801"/>
            <a:ext cx="20848200" cy="733920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37125" lIns="137125" spcFirstLastPara="1" rIns="137125" wrap="square" tIns="137125">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48" name="Google Shape;48;p1"/>
          <p:cNvSpPr/>
          <p:nvPr/>
        </p:nvSpPr>
        <p:spPr>
          <a:xfrm>
            <a:off x="11521440" y="4762500"/>
            <a:ext cx="20848200" cy="723900"/>
          </a:xfrm>
          <a:prstGeom prst="rect">
            <a:avLst/>
          </a:prstGeom>
          <a:solidFill>
            <a:srgbClr val="366092"/>
          </a:solidFill>
          <a:ln cap="flat" cmpd="sng" w="12700">
            <a:solidFill>
              <a:srgbClr val="395E89"/>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EAF1DD"/>
                </a:solidFill>
                <a:latin typeface="Calibri"/>
                <a:ea typeface="Calibri"/>
                <a:cs typeface="Calibri"/>
                <a:sym typeface="Calibri"/>
              </a:rPr>
              <a:t>Results and data analysis</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33467040" y="4846226"/>
            <a:ext cx="9281100" cy="674100"/>
          </a:xfrm>
          <a:prstGeom prst="rect">
            <a:avLst/>
          </a:prstGeom>
          <a:solidFill>
            <a:srgbClr val="366092"/>
          </a:solidFill>
          <a:ln cap="flat" cmpd="sng" w="12700">
            <a:solidFill>
              <a:srgbClr val="395E89"/>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EAF1DD"/>
                </a:solidFill>
                <a:latin typeface="Calibri"/>
                <a:ea typeface="Calibri"/>
                <a:cs typeface="Calibri"/>
                <a:sym typeface="Calibri"/>
              </a:rPr>
              <a:t>Conclusions</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33467040" y="13487400"/>
            <a:ext cx="9144000" cy="685800"/>
          </a:xfrm>
          <a:prstGeom prst="rect">
            <a:avLst/>
          </a:prstGeom>
          <a:solidFill>
            <a:srgbClr val="366092"/>
          </a:solidFill>
          <a:ln cap="flat" cmpd="sng" w="12700">
            <a:solidFill>
              <a:srgbClr val="395E89"/>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EAF1DD"/>
                </a:solidFill>
                <a:latin typeface="Calibri"/>
                <a:ea typeface="Calibri"/>
                <a:cs typeface="Calibri"/>
                <a:sym typeface="Calibri"/>
              </a:rPr>
              <a:t>Recommendation</a:t>
            </a:r>
            <a:endParaRPr b="0" i="0" sz="1400" u="none" cap="none" strike="noStrike">
              <a:solidFill>
                <a:srgbClr val="000000"/>
              </a:solidFill>
              <a:latin typeface="Arial"/>
              <a:ea typeface="Arial"/>
              <a:cs typeface="Arial"/>
              <a:sym typeface="Arial"/>
            </a:endParaRPr>
          </a:p>
        </p:txBody>
      </p:sp>
      <p:sp>
        <p:nvSpPr>
          <p:cNvPr id="51" name="Google Shape;51;p1"/>
          <p:cNvSpPr txBox="1"/>
          <p:nvPr/>
        </p:nvSpPr>
        <p:spPr>
          <a:xfrm>
            <a:off x="1212220" y="14733128"/>
            <a:ext cx="9211800" cy="589830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37125" lIns="137125" spcFirstLastPara="1" rIns="137125" wrap="square" tIns="137125">
            <a:spAutoFit/>
          </a:bodyPr>
          <a:lstStyle/>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latin typeface="Calibri"/>
                <a:ea typeface="Calibri"/>
                <a:cs typeface="Calibri"/>
                <a:sym typeface="Calibri"/>
              </a:rPr>
              <a:t>Energy consumption in warehouse environments represents a significant operational cost, particularly due to inefficient lighting practices. In many facilities, lights run continuously along entire aisle lengths — sometimes 24 hours a day — regardless of whether any workers are present. This results in massive, avoidable electricity waste.</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rPr lang="en-US" sz="2400">
                <a:solidFill>
                  <a:schemeClr val="dk1"/>
                </a:solidFill>
                <a:latin typeface="Calibri"/>
                <a:ea typeface="Calibri"/>
                <a:cs typeface="Calibri"/>
                <a:sym typeface="Calibri"/>
              </a:rPr>
              <a:t>The </a:t>
            </a:r>
            <a:r>
              <a:rPr b="1" lang="en-US" sz="2400">
                <a:solidFill>
                  <a:schemeClr val="dk1"/>
                </a:solidFill>
                <a:latin typeface="Calibri"/>
                <a:ea typeface="Calibri"/>
                <a:cs typeface="Calibri"/>
                <a:sym typeface="Calibri"/>
              </a:rPr>
              <a:t>Energy Saver</a:t>
            </a:r>
            <a:r>
              <a:rPr lang="en-US" sz="2400">
                <a:solidFill>
                  <a:schemeClr val="dk1"/>
                </a:solidFill>
                <a:latin typeface="Calibri"/>
                <a:ea typeface="Calibri"/>
                <a:cs typeface="Calibri"/>
                <a:sym typeface="Calibri"/>
              </a:rPr>
              <a:t> project addresses this problem by introducing an intelligent, sensor-driven lighting control system. Multiple PIR (Passive Infrared) and thermal sensors are installed along each aisle at intervals determined by aisle length. These sensors detect movement and body heat, triggering lighting adjustments in real time. The system operates fully automatically, requiring no change in worker behavior, and generates data-driven weekly reports for warehouse managers to monitor performance and detect faults early.</a:t>
            </a:r>
            <a:endParaRPr sz="2400">
              <a:solidFill>
                <a:schemeClr val="dk1"/>
              </a:solidFill>
              <a:latin typeface="Calibri"/>
              <a:ea typeface="Calibri"/>
              <a:cs typeface="Calibri"/>
              <a:sym typeface="Calibri"/>
            </a:endParaRPr>
          </a:p>
        </p:txBody>
      </p:sp>
      <p:sp>
        <p:nvSpPr>
          <p:cNvPr id="52" name="Google Shape;52;p1"/>
          <p:cNvSpPr txBox="1"/>
          <p:nvPr/>
        </p:nvSpPr>
        <p:spPr>
          <a:xfrm>
            <a:off x="33284160" y="30038039"/>
            <a:ext cx="9144000" cy="2223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53" name="Google Shape;53;p1"/>
          <p:cNvSpPr txBox="1"/>
          <p:nvPr/>
        </p:nvSpPr>
        <p:spPr>
          <a:xfrm>
            <a:off x="33520275" y="26166350"/>
            <a:ext cx="9105900" cy="397110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37125" lIns="137125" spcFirstLastPara="1" rIns="137125" wrap="square" tIns="137125">
            <a:spAutoFit/>
          </a:bodyPr>
          <a:lstStyle/>
          <a:p>
            <a:pPr indent="0" lvl="0" marL="0" rtl="0" algn="l">
              <a:spcBef>
                <a:spcPts val="0"/>
              </a:spcBef>
              <a:spcAft>
                <a:spcPts val="0"/>
              </a:spcAft>
              <a:buNone/>
            </a:pPr>
            <a:r>
              <a:rPr lang="en-US" sz="3000">
                <a:latin typeface="Calibri"/>
                <a:ea typeface="Calibri"/>
                <a:cs typeface="Calibri"/>
                <a:sym typeface="Calibri"/>
              </a:rPr>
              <a:t>We extend our sincere thanks and gratitude to Fathallah International School of Applied Technology (iATS) for their unwavering support throughout the project. We also express our special thanks to our teachers and mentors for their guidance, and to our team members – Ahmed Alaa, Bilal Rizk, Malak Ahmed, Sohaip Osama, and Youssef Mohamed – for their dedication and collective efforts in making this project a success.</a:t>
            </a:r>
            <a:endParaRPr sz="3000">
              <a:latin typeface="Calibri"/>
              <a:ea typeface="Calibri"/>
              <a:cs typeface="Calibri"/>
              <a:sym typeface="Calibri"/>
            </a:endParaRPr>
          </a:p>
        </p:txBody>
      </p:sp>
      <p:pic>
        <p:nvPicPr>
          <p:cNvPr descr="Text&#10;&#10;Description automatically generated with low confidence" id="54" name="Google Shape;54;p1"/>
          <p:cNvPicPr preferRelativeResize="0"/>
          <p:nvPr>
            <p:ph idx="1" type="body"/>
          </p:nvPr>
        </p:nvPicPr>
        <p:blipFill rotWithShape="1">
          <a:blip r:embed="rId3">
            <a:alphaModFix/>
          </a:blip>
          <a:srcRect b="0" l="0" r="0" t="0"/>
          <a:stretch/>
        </p:blipFill>
        <p:spPr>
          <a:xfrm>
            <a:off x="36546057" y="666580"/>
            <a:ext cx="5501700" cy="1863600"/>
          </a:xfrm>
          <a:prstGeom prst="rect">
            <a:avLst/>
          </a:prstGeom>
          <a:noFill/>
          <a:ln>
            <a:noFill/>
          </a:ln>
        </p:spPr>
      </p:pic>
      <p:sp>
        <p:nvSpPr>
          <p:cNvPr id="55" name="Google Shape;55;p1"/>
          <p:cNvSpPr/>
          <p:nvPr/>
        </p:nvSpPr>
        <p:spPr>
          <a:xfrm>
            <a:off x="11460480" y="13563600"/>
            <a:ext cx="21229200" cy="764100"/>
          </a:xfrm>
          <a:prstGeom prst="rect">
            <a:avLst/>
          </a:prstGeom>
          <a:solidFill>
            <a:srgbClr val="366092"/>
          </a:solidFill>
          <a:ln cap="flat" cmpd="sng" w="12700">
            <a:solidFill>
              <a:srgbClr val="395E89"/>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EAF1DD"/>
                </a:solidFill>
                <a:latin typeface="Calibri"/>
                <a:ea typeface="Calibri"/>
                <a:cs typeface="Calibri"/>
                <a:sym typeface="Calibri"/>
              </a:rPr>
              <a:t>Business Model Canvas</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33501215" y="18538523"/>
            <a:ext cx="9144000" cy="685800"/>
          </a:xfrm>
          <a:prstGeom prst="rect">
            <a:avLst/>
          </a:prstGeom>
          <a:solidFill>
            <a:srgbClr val="366092"/>
          </a:solidFill>
          <a:ln cap="flat" cmpd="sng" w="12700">
            <a:solidFill>
              <a:srgbClr val="395E89"/>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EAF1DD"/>
                </a:solidFill>
                <a:latin typeface="Calibri"/>
                <a:ea typeface="Calibri"/>
                <a:cs typeface="Calibri"/>
                <a:sym typeface="Calibri"/>
              </a:rPr>
              <a:t>References </a:t>
            </a:r>
            <a:endParaRPr b="0" i="0" sz="1400" u="none" cap="none" strike="noStrike">
              <a:solidFill>
                <a:srgbClr val="000000"/>
              </a:solidFill>
              <a:latin typeface="Arial"/>
              <a:ea typeface="Arial"/>
              <a:cs typeface="Arial"/>
              <a:sym typeface="Arial"/>
            </a:endParaRPr>
          </a:p>
        </p:txBody>
      </p:sp>
      <p:sp>
        <p:nvSpPr>
          <p:cNvPr id="57" name="Google Shape;57;p1"/>
          <p:cNvSpPr txBox="1"/>
          <p:nvPr/>
        </p:nvSpPr>
        <p:spPr>
          <a:xfrm>
            <a:off x="33467050" y="19478500"/>
            <a:ext cx="9174600" cy="589830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37125" lIns="137125" spcFirstLastPara="1" rIns="137125" wrap="square" tIns="137125">
            <a:normAutofit lnSpcReduction="20000"/>
          </a:bodyPr>
          <a:lstStyle/>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latin typeface="Calibri"/>
                <a:ea typeface="Calibri"/>
                <a:cs typeface="Calibri"/>
                <a:sym typeface="Calibri"/>
              </a:rPr>
              <a:t>1.</a:t>
            </a:r>
            <a:r>
              <a:rPr lang="en-US" sz="2000">
                <a:solidFill>
                  <a:schemeClr val="dk1"/>
                </a:solidFill>
                <a:latin typeface="Calibri"/>
                <a:ea typeface="Calibri"/>
                <a:cs typeface="Calibri"/>
                <a:sym typeface="Calibri"/>
              </a:rPr>
              <a:t> U.S. Department of Energy – Federal Energy Management Program </a:t>
            </a:r>
            <a:r>
              <a:rPr i="1" lang="en-US" sz="2000">
                <a:solidFill>
                  <a:schemeClr val="dk1"/>
                </a:solidFill>
                <a:latin typeface="Calibri"/>
                <a:ea typeface="Calibri"/>
                <a:cs typeface="Calibri"/>
                <a:sym typeface="Calibri"/>
              </a:rPr>
              <a:t>"Wireless Occupancy Sensors for Lighting Controls"</a:t>
            </a:r>
            <a:r>
              <a:rPr lang="en-US" sz="2000">
                <a:solidFill>
                  <a:schemeClr val="dk1"/>
                </a:solidFill>
                <a:latin typeface="Calibri"/>
                <a:ea typeface="Calibri"/>
                <a:cs typeface="Calibri"/>
                <a:sym typeface="Calibri"/>
              </a:rPr>
              <a:t> 🔗</a:t>
            </a:r>
            <a:r>
              <a:rPr lang="en-US" sz="2000">
                <a:solidFill>
                  <a:schemeClr val="dk1"/>
                </a:solidFill>
                <a:uFill>
                  <a:noFill/>
                </a:uFill>
                <a:latin typeface="Calibri"/>
                <a:ea typeface="Calibri"/>
                <a:cs typeface="Calibri"/>
                <a:sym typeface="Calibri"/>
                <a:hlinkClick r:id="rId4">
                  <a:extLst>
                    <a:ext uri="{A12FA001-AC4F-418D-AE19-62706E023703}">
                      <ahyp:hlinkClr val="tx"/>
                    </a:ext>
                  </a:extLst>
                </a:hlinkClick>
              </a:rPr>
              <a:t> </a:t>
            </a:r>
            <a:r>
              <a:rPr lang="en-US" sz="2000" u="sng">
                <a:solidFill>
                  <a:schemeClr val="hlink"/>
                </a:solidFill>
                <a:latin typeface="Calibri"/>
                <a:ea typeface="Calibri"/>
                <a:cs typeface="Calibri"/>
                <a:sym typeface="Calibri"/>
                <a:hlinkClick r:id="rId5"/>
              </a:rPr>
              <a:t>https://www.energy.gov/femp/articles/wireless-occupancy-sensors-lighting-controls-applications-guide-federal-facility</a:t>
            </a:r>
            <a:endParaRPr sz="2000" u="sng">
              <a:solidFill>
                <a:schemeClr val="hlink"/>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latin typeface="Calibri"/>
                <a:ea typeface="Calibri"/>
                <a:cs typeface="Calibri"/>
                <a:sym typeface="Calibri"/>
              </a:rPr>
              <a:t>2.</a:t>
            </a:r>
            <a:r>
              <a:rPr lang="en-US" sz="2000">
                <a:solidFill>
                  <a:schemeClr val="dk1"/>
                </a:solidFill>
                <a:latin typeface="Calibri"/>
                <a:ea typeface="Calibri"/>
                <a:cs typeface="Calibri"/>
                <a:sym typeface="Calibri"/>
              </a:rPr>
              <a:t> U.S. DOE – Better Buildings Solution Center </a:t>
            </a:r>
            <a:r>
              <a:rPr i="1" lang="en-US" sz="2000">
                <a:solidFill>
                  <a:schemeClr val="dk1"/>
                </a:solidFill>
                <a:latin typeface="Calibri"/>
                <a:ea typeface="Calibri"/>
                <a:cs typeface="Calibri"/>
                <a:sym typeface="Calibri"/>
              </a:rPr>
              <a:t>"Wireless Sensors for Lighting Energy Savings" (Guidance PDF)</a:t>
            </a:r>
            <a:r>
              <a:rPr lang="en-US" sz="2000">
                <a:solidFill>
                  <a:schemeClr val="dk1"/>
                </a:solidFill>
                <a:latin typeface="Calibri"/>
                <a:ea typeface="Calibri"/>
                <a:cs typeface="Calibri"/>
                <a:sym typeface="Calibri"/>
              </a:rPr>
              <a:t> 🔗</a:t>
            </a:r>
            <a:r>
              <a:rPr lang="en-US" sz="2000">
                <a:solidFill>
                  <a:schemeClr val="dk1"/>
                </a:solidFill>
                <a:uFill>
                  <a:noFill/>
                </a:uFill>
                <a:latin typeface="Calibri"/>
                <a:ea typeface="Calibri"/>
                <a:cs typeface="Calibri"/>
                <a:sym typeface="Calibri"/>
                <a:hlinkClick r:id="rId6">
                  <a:extLst>
                    <a:ext uri="{A12FA001-AC4F-418D-AE19-62706E023703}">
                      <ahyp:hlinkClr val="tx"/>
                    </a:ext>
                  </a:extLst>
                </a:hlinkClick>
              </a:rPr>
              <a:t> </a:t>
            </a:r>
            <a:r>
              <a:rPr lang="en-US" sz="2000" u="sng">
                <a:solidFill>
                  <a:schemeClr val="hlink"/>
                </a:solidFill>
                <a:latin typeface="Calibri"/>
                <a:ea typeface="Calibri"/>
                <a:cs typeface="Calibri"/>
                <a:sym typeface="Calibri"/>
                <a:hlinkClick r:id="rId7"/>
              </a:rPr>
              <a:t>https://betterbuildingssolutioncenter.energy.gov/sites/default/files/attachments/Wireless-Sensors-Guidance.pdf</a:t>
            </a:r>
            <a:endParaRPr sz="2000" u="sng">
              <a:solidFill>
                <a:schemeClr val="hlink"/>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latin typeface="Calibri"/>
                <a:ea typeface="Calibri"/>
                <a:cs typeface="Calibri"/>
                <a:sym typeface="Calibri"/>
              </a:rPr>
              <a:t>3.</a:t>
            </a:r>
            <a:r>
              <a:rPr lang="en-US" sz="2000">
                <a:solidFill>
                  <a:schemeClr val="dk1"/>
                </a:solidFill>
                <a:latin typeface="Calibri"/>
                <a:ea typeface="Calibri"/>
                <a:cs typeface="Calibri"/>
                <a:sym typeface="Calibri"/>
              </a:rPr>
              <a:t> EnOcean Alliance </a:t>
            </a:r>
            <a:r>
              <a:rPr i="1" lang="en-US" sz="2000">
                <a:solidFill>
                  <a:schemeClr val="dk1"/>
                </a:solidFill>
                <a:latin typeface="Calibri"/>
                <a:ea typeface="Calibri"/>
                <a:cs typeface="Calibri"/>
                <a:sym typeface="Calibri"/>
              </a:rPr>
              <a:t>"Wireless Lighting Controls: A Total Cost Analysis" — Warehouse Payback Study</a:t>
            </a:r>
            <a:r>
              <a:rPr lang="en-US" sz="2000">
                <a:solidFill>
                  <a:schemeClr val="dk1"/>
                </a:solidFill>
                <a:latin typeface="Calibri"/>
                <a:ea typeface="Calibri"/>
                <a:cs typeface="Calibri"/>
                <a:sym typeface="Calibri"/>
              </a:rPr>
              <a:t> 🔗</a:t>
            </a:r>
            <a:r>
              <a:rPr lang="en-US" sz="2000">
                <a:solidFill>
                  <a:schemeClr val="dk1"/>
                </a:solidFill>
                <a:uFill>
                  <a:noFill/>
                </a:uFill>
                <a:latin typeface="Calibri"/>
                <a:ea typeface="Calibri"/>
                <a:cs typeface="Calibri"/>
                <a:sym typeface="Calibri"/>
                <a:hlinkClick r:id="rId8">
                  <a:extLst>
                    <a:ext uri="{A12FA001-AC4F-418D-AE19-62706E023703}">
                      <ahyp:hlinkClr val="tx"/>
                    </a:ext>
                  </a:extLst>
                </a:hlinkClick>
              </a:rPr>
              <a:t> </a:t>
            </a:r>
            <a:r>
              <a:rPr lang="en-US" sz="2000" u="sng">
                <a:solidFill>
                  <a:schemeClr val="hlink"/>
                </a:solidFill>
                <a:latin typeface="Calibri"/>
                <a:ea typeface="Calibri"/>
                <a:cs typeface="Calibri"/>
                <a:sym typeface="Calibri"/>
                <a:hlinkClick r:id="rId9"/>
              </a:rPr>
              <a:t>https://www.enocean-alliance.org/wp-content/uploads/2016/11/Whitepaper__wireless_lighting_controls_payback.pdf</a:t>
            </a:r>
            <a:endParaRPr sz="2000" u="sng">
              <a:solidFill>
                <a:schemeClr val="hlink"/>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latin typeface="Calibri"/>
                <a:ea typeface="Calibri"/>
                <a:cs typeface="Calibri"/>
                <a:sym typeface="Calibri"/>
              </a:rPr>
              <a:t>4.</a:t>
            </a:r>
            <a:r>
              <a:rPr lang="en-US" sz="2000">
                <a:solidFill>
                  <a:schemeClr val="dk1"/>
                </a:solidFill>
                <a:latin typeface="Calibri"/>
                <a:ea typeface="Calibri"/>
                <a:cs typeface="Calibri"/>
                <a:sym typeface="Calibri"/>
              </a:rPr>
              <a:t> AGC Lighting </a:t>
            </a:r>
            <a:r>
              <a:rPr i="1" lang="en-US" sz="2000">
                <a:solidFill>
                  <a:schemeClr val="dk1"/>
                </a:solidFill>
                <a:latin typeface="Calibri"/>
                <a:ea typeface="Calibri"/>
                <a:cs typeface="Calibri"/>
                <a:sym typeface="Calibri"/>
              </a:rPr>
              <a:t>"High Bay Light with Occupancy Sensor Saving Energy in Warehouse" — PIR &amp; Microwave Sensors</a:t>
            </a:r>
            <a:r>
              <a:rPr lang="en-US" sz="2000">
                <a:solidFill>
                  <a:schemeClr val="dk1"/>
                </a:solidFill>
                <a:latin typeface="Calibri"/>
                <a:ea typeface="Calibri"/>
                <a:cs typeface="Calibri"/>
                <a:sym typeface="Calibri"/>
              </a:rPr>
              <a:t> 🔗</a:t>
            </a:r>
            <a:r>
              <a:rPr lang="en-US" sz="2000">
                <a:solidFill>
                  <a:schemeClr val="dk1"/>
                </a:solidFill>
                <a:uFill>
                  <a:noFill/>
                </a:uFill>
                <a:latin typeface="Calibri"/>
                <a:ea typeface="Calibri"/>
                <a:cs typeface="Calibri"/>
                <a:sym typeface="Calibri"/>
                <a:hlinkClick r:id="rId10">
                  <a:extLst>
                    <a:ext uri="{A12FA001-AC4F-418D-AE19-62706E023703}">
                      <ahyp:hlinkClr val="tx"/>
                    </a:ext>
                  </a:extLst>
                </a:hlinkClick>
              </a:rPr>
              <a:t> </a:t>
            </a:r>
            <a:r>
              <a:rPr lang="en-US" sz="2000" u="sng">
                <a:solidFill>
                  <a:schemeClr val="hlink"/>
                </a:solidFill>
                <a:latin typeface="Calibri"/>
                <a:ea typeface="Calibri"/>
                <a:cs typeface="Calibri"/>
                <a:sym typeface="Calibri"/>
                <a:hlinkClick r:id="rId11"/>
              </a:rPr>
              <a:t>https://www.agcled.com/blog/high-bay-light-with-occupancy-sensor-saving-energy-in-warehouse.html</a:t>
            </a:r>
            <a:endParaRPr sz="2000" u="sng">
              <a:solidFill>
                <a:schemeClr val="hlink"/>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t/>
            </a:r>
            <a:endParaRPr b="1" sz="2000">
              <a:solidFill>
                <a:schemeClr val="dk1"/>
              </a:solidFill>
              <a:latin typeface="Calibri"/>
              <a:ea typeface="Calibri"/>
              <a:cs typeface="Calibri"/>
              <a:sym typeface="Calibri"/>
            </a:endParaRPr>
          </a:p>
        </p:txBody>
      </p:sp>
      <p:sp>
        <p:nvSpPr>
          <p:cNvPr id="58" name="Google Shape;58;p1"/>
          <p:cNvSpPr/>
          <p:nvPr/>
        </p:nvSpPr>
        <p:spPr>
          <a:xfrm>
            <a:off x="1264920" y="21494939"/>
            <a:ext cx="9159300" cy="685800"/>
          </a:xfrm>
          <a:prstGeom prst="rect">
            <a:avLst/>
          </a:prstGeom>
          <a:solidFill>
            <a:srgbClr val="366092"/>
          </a:solidFill>
          <a:ln cap="flat" cmpd="sng" w="12700">
            <a:solidFill>
              <a:srgbClr val="395E89"/>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EAF1DD"/>
                </a:solidFill>
                <a:latin typeface="Calibri"/>
                <a:ea typeface="Calibri"/>
                <a:cs typeface="Calibri"/>
                <a:sym typeface="Calibri"/>
              </a:rPr>
              <a:t>Methods and Materials</a:t>
            </a:r>
            <a:endParaRPr b="0" i="0" sz="1400" u="none" cap="none" strike="noStrike">
              <a:solidFill>
                <a:srgbClr val="000000"/>
              </a:solidFill>
              <a:latin typeface="Arial"/>
              <a:ea typeface="Arial"/>
              <a:cs typeface="Arial"/>
              <a:sym typeface="Arial"/>
            </a:endParaRPr>
          </a:p>
        </p:txBody>
      </p:sp>
      <p:graphicFrame>
        <p:nvGraphicFramePr>
          <p:cNvPr id="59" name="Google Shape;59;p1"/>
          <p:cNvGraphicFramePr/>
          <p:nvPr/>
        </p:nvGraphicFramePr>
        <p:xfrm>
          <a:off x="11547188" y="14733128"/>
          <a:ext cx="3000000" cy="3000000"/>
        </p:xfrm>
        <a:graphic>
          <a:graphicData uri="http://schemas.openxmlformats.org/drawingml/2006/table">
            <a:tbl>
              <a:tblPr bandRow="1" firstCol="1" firstRow="1">
                <a:noFill/>
                <a:tableStyleId>{EB03760E-2E4A-4A22-B883-B0AF43733D40}</a:tableStyleId>
              </a:tblPr>
              <a:tblGrid>
                <a:gridCol w="4272725"/>
                <a:gridCol w="4348100"/>
                <a:gridCol w="3984300"/>
                <a:gridCol w="4348100"/>
                <a:gridCol w="4164025"/>
              </a:tblGrid>
              <a:tr h="4701025">
                <a:tc rowSpan="2">
                  <a:txBody>
                    <a:bodyPr/>
                    <a:lstStyle/>
                    <a:p>
                      <a:pPr indent="0" lvl="0" marL="0" marR="0" rtl="0" algn="l">
                        <a:lnSpc>
                          <a:spcPct val="107000"/>
                        </a:lnSpc>
                        <a:spcBef>
                          <a:spcPts val="0"/>
                        </a:spcBef>
                        <a:spcAft>
                          <a:spcPts val="0"/>
                        </a:spcAft>
                        <a:buNone/>
                      </a:pPr>
                      <a:r>
                        <a:rPr lang="en-US" sz="3000" u="none" cap="none" strike="noStrike"/>
                        <a:t>Key Partners</a:t>
                      </a:r>
                      <a:endParaRPr sz="3000" u="none" cap="none" strike="noStrike"/>
                    </a:p>
                    <a:p>
                      <a:pPr indent="-419100" lvl="0" marL="457200" rtl="0" algn="l">
                        <a:lnSpc>
                          <a:spcPct val="107916"/>
                        </a:lnSpc>
                        <a:spcBef>
                          <a:spcPts val="0"/>
                        </a:spcBef>
                        <a:spcAft>
                          <a:spcPts val="0"/>
                        </a:spcAft>
                        <a:buSzPts val="3000"/>
                        <a:buChar char="●"/>
                      </a:pPr>
                      <a:r>
                        <a:rPr lang="en-US" sz="3000"/>
                        <a:t> Electrical Equipment Supplier </a:t>
                      </a:r>
                      <a:endParaRPr sz="3000"/>
                    </a:p>
                    <a:p>
                      <a:pPr indent="0" lvl="0" marL="457200" rtl="0" algn="l">
                        <a:lnSpc>
                          <a:spcPct val="107916"/>
                        </a:lnSpc>
                        <a:spcBef>
                          <a:spcPts val="0"/>
                        </a:spcBef>
                        <a:spcAft>
                          <a:spcPts val="0"/>
                        </a:spcAft>
                        <a:buNone/>
                      </a:pPr>
                      <a:r>
                        <a:t/>
                      </a:r>
                      <a:endParaRPr sz="3000"/>
                    </a:p>
                    <a:p>
                      <a:pPr indent="-419100" lvl="0" marL="457200" rtl="0" algn="l">
                        <a:lnSpc>
                          <a:spcPct val="107916"/>
                        </a:lnSpc>
                        <a:spcBef>
                          <a:spcPts val="0"/>
                        </a:spcBef>
                        <a:spcAft>
                          <a:spcPts val="0"/>
                        </a:spcAft>
                        <a:buSzPts val="3000"/>
                        <a:buChar char="●"/>
                      </a:pPr>
                      <a:r>
                        <a:rPr lang="en-US" sz="3000"/>
                        <a:t>Warehouse Operators </a:t>
                      </a:r>
                      <a:endParaRPr sz="3000"/>
                    </a:p>
                    <a:p>
                      <a:pPr indent="0" lvl="0" marL="457200" rtl="0" algn="l">
                        <a:lnSpc>
                          <a:spcPct val="107916"/>
                        </a:lnSpc>
                        <a:spcBef>
                          <a:spcPts val="0"/>
                        </a:spcBef>
                        <a:spcAft>
                          <a:spcPts val="0"/>
                        </a:spcAft>
                        <a:buNone/>
                      </a:pPr>
                      <a:r>
                        <a:t/>
                      </a:r>
                      <a:endParaRPr sz="3000"/>
                    </a:p>
                    <a:p>
                      <a:pPr indent="-419100" lvl="0" marL="457200" rtl="0" algn="l">
                        <a:lnSpc>
                          <a:spcPct val="107916"/>
                        </a:lnSpc>
                        <a:spcBef>
                          <a:spcPts val="0"/>
                        </a:spcBef>
                        <a:spcAft>
                          <a:spcPts val="0"/>
                        </a:spcAft>
                        <a:buSzPts val="3000"/>
                        <a:buChar char="●"/>
                      </a:pPr>
                      <a:r>
                        <a:rPr lang="en-US" sz="3000"/>
                        <a:t> LED Lighting Manufacturers </a:t>
                      </a:r>
                      <a:endParaRPr sz="3000"/>
                    </a:p>
                    <a:p>
                      <a:pPr indent="0" lvl="0" marL="457200" rtl="0" algn="l">
                        <a:lnSpc>
                          <a:spcPct val="107916"/>
                        </a:lnSpc>
                        <a:spcBef>
                          <a:spcPts val="0"/>
                        </a:spcBef>
                        <a:spcAft>
                          <a:spcPts val="0"/>
                        </a:spcAft>
                        <a:buNone/>
                      </a:pPr>
                      <a:r>
                        <a:t/>
                      </a:r>
                      <a:endParaRPr sz="3000"/>
                    </a:p>
                    <a:p>
                      <a:pPr indent="-419100" lvl="0" marL="457200" rtl="0" algn="l">
                        <a:lnSpc>
                          <a:spcPct val="107916"/>
                        </a:lnSpc>
                        <a:spcBef>
                          <a:spcPts val="0"/>
                        </a:spcBef>
                        <a:spcAft>
                          <a:spcPts val="0"/>
                        </a:spcAft>
                        <a:buSzPts val="3000"/>
                        <a:buChar char="●"/>
                      </a:pPr>
                      <a:r>
                        <a:rPr lang="en-US" sz="3000"/>
                        <a:t>Cloud / IoT Platform Providers</a:t>
                      </a:r>
                      <a:endParaRPr sz="3000"/>
                    </a:p>
                  </a:txBody>
                  <a:tcPr marT="0" marB="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000000"/>
                        </a:buClr>
                        <a:buSzPts val="2800"/>
                        <a:buFont typeface="Arial"/>
                        <a:buNone/>
                      </a:pPr>
                      <a:r>
                        <a:rPr lang="en-US" sz="3000" u="none" cap="none" strike="noStrike"/>
                        <a:t>Key Activities </a:t>
                      </a:r>
                      <a:endParaRPr sz="3000" u="none" cap="none" strike="noStrike"/>
                    </a:p>
                    <a:p>
                      <a:pPr indent="-419100" lvl="0" marL="457200" rtl="0" algn="l">
                        <a:lnSpc>
                          <a:spcPct val="107916"/>
                        </a:lnSpc>
                        <a:spcBef>
                          <a:spcPts val="0"/>
                        </a:spcBef>
                        <a:spcAft>
                          <a:spcPts val="0"/>
                        </a:spcAft>
                        <a:buSzPts val="3000"/>
                        <a:buChar char="●"/>
                      </a:pPr>
                      <a:r>
                        <a:rPr lang="en-US" sz="3000"/>
                        <a:t>Sensor Installation </a:t>
                      </a:r>
                      <a:endParaRPr sz="3000"/>
                    </a:p>
                    <a:p>
                      <a:pPr indent="-419100" lvl="0" marL="457200" rtl="0" algn="l">
                        <a:lnSpc>
                          <a:spcPct val="107916"/>
                        </a:lnSpc>
                        <a:spcBef>
                          <a:spcPts val="0"/>
                        </a:spcBef>
                        <a:spcAft>
                          <a:spcPts val="0"/>
                        </a:spcAft>
                        <a:buSzPts val="3000"/>
                        <a:buChar char="●"/>
                      </a:pPr>
                      <a:r>
                        <a:rPr lang="en-US" sz="3000"/>
                        <a:t>Smart Monitoring </a:t>
                      </a:r>
                      <a:endParaRPr sz="3000"/>
                    </a:p>
                    <a:p>
                      <a:pPr indent="-419100" lvl="0" marL="457200" rtl="0" algn="l">
                        <a:lnSpc>
                          <a:spcPct val="107916"/>
                        </a:lnSpc>
                        <a:spcBef>
                          <a:spcPts val="0"/>
                        </a:spcBef>
                        <a:spcAft>
                          <a:spcPts val="0"/>
                        </a:spcAft>
                        <a:buSzPts val="3000"/>
                        <a:buChar char="●"/>
                      </a:pPr>
                      <a:r>
                        <a:rPr lang="en-US" sz="3000"/>
                        <a:t>Report Generation </a:t>
                      </a:r>
                      <a:endParaRPr sz="3000"/>
                    </a:p>
                    <a:p>
                      <a:pPr indent="-419100" lvl="0" marL="457200" rtl="0" algn="l">
                        <a:lnSpc>
                          <a:spcPct val="107916"/>
                        </a:lnSpc>
                        <a:spcBef>
                          <a:spcPts val="0"/>
                        </a:spcBef>
                        <a:spcAft>
                          <a:spcPts val="0"/>
                        </a:spcAft>
                        <a:buSzPts val="3000"/>
                        <a:buChar char="●"/>
                      </a:pPr>
                      <a:r>
                        <a:rPr lang="en-US" sz="3000"/>
                        <a:t>System Maintenance</a:t>
                      </a:r>
                      <a:endParaRPr sz="3000"/>
                    </a:p>
                    <a:p>
                      <a:pPr indent="-419100" lvl="0" marL="457200" rtl="0" algn="l">
                        <a:lnSpc>
                          <a:spcPct val="107916"/>
                        </a:lnSpc>
                        <a:spcBef>
                          <a:spcPts val="0"/>
                        </a:spcBef>
                        <a:spcAft>
                          <a:spcPts val="0"/>
                        </a:spcAft>
                        <a:buSzPts val="3000"/>
                        <a:buChar char="●"/>
                      </a:pPr>
                      <a:r>
                        <a:rPr lang="en-US" sz="3000"/>
                        <a:t> Algorithm </a:t>
                      </a:r>
                      <a:endParaRPr sz="3000"/>
                    </a:p>
                    <a:p>
                      <a:pPr indent="0" lvl="0" marL="457200" rtl="0" algn="l">
                        <a:lnSpc>
                          <a:spcPct val="107916"/>
                        </a:lnSpc>
                        <a:spcBef>
                          <a:spcPts val="0"/>
                        </a:spcBef>
                        <a:spcAft>
                          <a:spcPts val="0"/>
                        </a:spcAft>
                        <a:buNone/>
                      </a:pPr>
                      <a:r>
                        <a:rPr lang="en-US" sz="3000"/>
                        <a:t>Development</a:t>
                      </a:r>
                      <a:endParaRPr sz="3000"/>
                    </a:p>
                  </a:txBody>
                  <a:tcPr marT="0" marB="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rowSpan="2">
                  <a:txBody>
                    <a:bodyPr/>
                    <a:lstStyle/>
                    <a:p>
                      <a:pPr indent="0" lvl="0" marL="0" marR="0" rtl="0" algn="l">
                        <a:lnSpc>
                          <a:spcPct val="107000"/>
                        </a:lnSpc>
                        <a:spcBef>
                          <a:spcPts val="0"/>
                        </a:spcBef>
                        <a:spcAft>
                          <a:spcPts val="0"/>
                        </a:spcAft>
                        <a:buNone/>
                      </a:pPr>
                      <a:r>
                        <a:rPr lang="en-US" sz="3000" u="none" cap="none" strike="noStrike"/>
                        <a:t>Value Proposition </a:t>
                      </a:r>
                      <a:endParaRPr sz="3000" u="none" cap="none" strike="noStrike"/>
                    </a:p>
                    <a:p>
                      <a:pPr indent="-419100" lvl="0" marL="457200" rtl="0" algn="l">
                        <a:lnSpc>
                          <a:spcPct val="107916"/>
                        </a:lnSpc>
                        <a:spcBef>
                          <a:spcPts val="0"/>
                        </a:spcBef>
                        <a:spcAft>
                          <a:spcPts val="0"/>
                        </a:spcAft>
                        <a:buSzPts val="3000"/>
                        <a:buChar char="●"/>
                      </a:pPr>
                      <a:r>
                        <a:rPr lang="en-US" sz="3000"/>
                        <a:t>Executable Weekly Report </a:t>
                      </a:r>
                      <a:endParaRPr sz="3000"/>
                    </a:p>
                    <a:p>
                      <a:pPr indent="-419100" lvl="0" marL="457200" rtl="0" algn="l">
                        <a:lnSpc>
                          <a:spcPct val="107916"/>
                        </a:lnSpc>
                        <a:spcBef>
                          <a:spcPts val="0"/>
                        </a:spcBef>
                        <a:spcAft>
                          <a:spcPts val="0"/>
                        </a:spcAft>
                        <a:buSzPts val="3000"/>
                        <a:buChar char="●"/>
                      </a:pPr>
                      <a:r>
                        <a:rPr lang="en-US" sz="3000"/>
                        <a:t>Cost Efficiency (65–70% savings) </a:t>
                      </a:r>
                      <a:endParaRPr sz="3000"/>
                    </a:p>
                    <a:p>
                      <a:pPr indent="-419100" lvl="0" marL="457200" rtl="0" algn="l">
                        <a:lnSpc>
                          <a:spcPct val="107916"/>
                        </a:lnSpc>
                        <a:spcBef>
                          <a:spcPts val="0"/>
                        </a:spcBef>
                        <a:spcAft>
                          <a:spcPts val="0"/>
                        </a:spcAft>
                        <a:buSzPts val="3000"/>
                        <a:buChar char="●"/>
                      </a:pPr>
                      <a:r>
                        <a:rPr lang="en-US" sz="3000"/>
                        <a:t>Reduce Electricity Waste</a:t>
                      </a:r>
                      <a:r>
                        <a:rPr lang="en-US" sz="3000"/>
                        <a:t> </a:t>
                      </a:r>
                      <a:endParaRPr sz="3000"/>
                    </a:p>
                    <a:p>
                      <a:pPr indent="-419100" lvl="0" marL="457200" rtl="0" algn="l">
                        <a:lnSpc>
                          <a:spcPct val="107916"/>
                        </a:lnSpc>
                        <a:spcBef>
                          <a:spcPts val="0"/>
                        </a:spcBef>
                        <a:spcAft>
                          <a:spcPts val="0"/>
                        </a:spcAft>
                        <a:buSzPts val="3000"/>
                        <a:buChar char="●"/>
                      </a:pPr>
                      <a:r>
                        <a:rPr lang="en-US" sz="3000"/>
                        <a:t>Using AI &amp; IoT for Smart Lighting </a:t>
                      </a:r>
                      <a:endParaRPr sz="3000"/>
                    </a:p>
                    <a:p>
                      <a:pPr indent="-419100" lvl="0" marL="457200" rtl="0" algn="l">
                        <a:lnSpc>
                          <a:spcPct val="107916"/>
                        </a:lnSpc>
                        <a:spcBef>
                          <a:spcPts val="0"/>
                        </a:spcBef>
                        <a:spcAft>
                          <a:spcPts val="0"/>
                        </a:spcAft>
                        <a:buSzPts val="3000"/>
                        <a:buChar char="●"/>
                      </a:pPr>
                      <a:r>
                        <a:rPr lang="en-US" sz="3000"/>
                        <a:t>Extends Bulb Lifespan (20% standby)</a:t>
                      </a:r>
                      <a:endParaRPr sz="3000"/>
                    </a:p>
                    <a:p>
                      <a:pPr indent="-419100" lvl="0" marL="457200" rtl="0" algn="l">
                        <a:lnSpc>
                          <a:spcPct val="107916"/>
                        </a:lnSpc>
                        <a:spcBef>
                          <a:spcPts val="0"/>
                        </a:spcBef>
                        <a:spcAft>
                          <a:spcPts val="0"/>
                        </a:spcAft>
                        <a:buSzPts val="3000"/>
                        <a:buChar char="●"/>
                      </a:pPr>
                      <a:r>
                        <a:rPr lang="en-US" sz="3000"/>
                        <a:t>  Zero Change in Worker Behavior</a:t>
                      </a:r>
                      <a:endParaRPr sz="3000"/>
                    </a:p>
                  </a:txBody>
                  <a:tcPr marT="0" marB="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000000"/>
                        </a:buClr>
                        <a:buSzPts val="2800"/>
                        <a:buFont typeface="Arial"/>
                        <a:buNone/>
                      </a:pPr>
                      <a:r>
                        <a:rPr lang="en-US" sz="3000" u="none" cap="none" strike="noStrike"/>
                        <a:t>Customer Relationship </a:t>
                      </a:r>
                      <a:endParaRPr sz="3000" u="none" cap="none" strike="noStrike"/>
                    </a:p>
                    <a:p>
                      <a:pPr indent="-419100" lvl="0" marL="457200" rtl="0" algn="l">
                        <a:lnSpc>
                          <a:spcPct val="107916"/>
                        </a:lnSpc>
                        <a:spcBef>
                          <a:spcPts val="0"/>
                        </a:spcBef>
                        <a:spcAft>
                          <a:spcPts val="0"/>
                        </a:spcAft>
                        <a:buSzPts val="3000"/>
                        <a:buChar char="●"/>
                      </a:pPr>
                      <a:r>
                        <a:rPr lang="en-US" sz="3000"/>
                        <a:t> Large Scale Warehouse</a:t>
                      </a:r>
                      <a:endParaRPr sz="3000"/>
                    </a:p>
                    <a:p>
                      <a:pPr indent="0" lvl="0" marL="457200" rtl="0" algn="l">
                        <a:lnSpc>
                          <a:spcPct val="107916"/>
                        </a:lnSpc>
                        <a:spcBef>
                          <a:spcPts val="0"/>
                        </a:spcBef>
                        <a:spcAft>
                          <a:spcPts val="0"/>
                        </a:spcAft>
                        <a:buNone/>
                      </a:pPr>
                      <a:r>
                        <a:rPr lang="en-US" sz="3000"/>
                        <a:t>Hypermarket Chains</a:t>
                      </a:r>
                      <a:endParaRPr sz="3000"/>
                    </a:p>
                    <a:p>
                      <a:pPr indent="0" lvl="0" marL="457200" rtl="0" algn="l">
                        <a:lnSpc>
                          <a:spcPct val="107916"/>
                        </a:lnSpc>
                        <a:spcBef>
                          <a:spcPts val="0"/>
                        </a:spcBef>
                        <a:spcAft>
                          <a:spcPts val="0"/>
                        </a:spcAft>
                        <a:buNone/>
                      </a:pPr>
                      <a:r>
                        <a:rPr lang="en-US" sz="3000"/>
                        <a:t>Automated Support</a:t>
                      </a:r>
                      <a:endParaRPr sz="3000"/>
                    </a:p>
                    <a:p>
                      <a:pPr indent="-419100" lvl="0" marL="457200" rtl="0" algn="l">
                        <a:lnSpc>
                          <a:spcPct val="107916"/>
                        </a:lnSpc>
                        <a:spcBef>
                          <a:spcPts val="0"/>
                        </a:spcBef>
                        <a:spcAft>
                          <a:spcPts val="0"/>
                        </a:spcAft>
                        <a:buSzPts val="3000"/>
                        <a:buChar char="●"/>
                      </a:pPr>
                      <a:r>
                        <a:rPr lang="en-US" sz="3000"/>
                        <a:t> Weekly Performance Reports</a:t>
                      </a:r>
                      <a:endParaRPr sz="3000"/>
                    </a:p>
                    <a:p>
                      <a:pPr indent="-419100" lvl="0" marL="457200" rtl="0" algn="l">
                        <a:lnSpc>
                          <a:spcPct val="107916"/>
                        </a:lnSpc>
                        <a:spcBef>
                          <a:spcPts val="0"/>
                        </a:spcBef>
                        <a:spcAft>
                          <a:spcPts val="0"/>
                        </a:spcAft>
                        <a:buSzPts val="3000"/>
                        <a:buChar char="●"/>
                      </a:pPr>
                      <a:r>
                        <a:rPr lang="en-US" sz="3000"/>
                        <a:t> On-site Maintenance Contracts</a:t>
                      </a:r>
                      <a:endParaRPr sz="3000"/>
                    </a:p>
                  </a:txBody>
                  <a:tcPr marT="0" marB="0" marR="68575" marL="6857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rowSpan="2">
                  <a:txBody>
                    <a:bodyPr/>
                    <a:lstStyle/>
                    <a:p>
                      <a:pPr indent="0" lvl="0" marL="0" marR="0" rtl="0" algn="l">
                        <a:lnSpc>
                          <a:spcPct val="107000"/>
                        </a:lnSpc>
                        <a:spcBef>
                          <a:spcPts val="0"/>
                        </a:spcBef>
                        <a:spcAft>
                          <a:spcPts val="0"/>
                        </a:spcAft>
                        <a:buNone/>
                      </a:pPr>
                      <a:r>
                        <a:rPr lang="en-US" sz="3000" u="none" cap="none" strike="noStrike"/>
                        <a:t>Customer Segments </a:t>
                      </a:r>
                      <a:endParaRPr sz="3000" u="none" cap="none" strike="noStrike"/>
                    </a:p>
                    <a:p>
                      <a:pPr indent="-419100" lvl="0" marL="457200" rtl="0" algn="l">
                        <a:lnSpc>
                          <a:spcPct val="107916"/>
                        </a:lnSpc>
                        <a:spcBef>
                          <a:spcPts val="0"/>
                        </a:spcBef>
                        <a:spcAft>
                          <a:spcPts val="0"/>
                        </a:spcAft>
                        <a:buSzPts val="3000"/>
                        <a:buChar char="●"/>
                      </a:pPr>
                      <a:r>
                        <a:rPr lang="en-US" sz="3000"/>
                        <a:t> B. Owner Class (A) — Large warehouses &amp; factories with huge inventory </a:t>
                      </a:r>
                      <a:endParaRPr sz="3000"/>
                    </a:p>
                    <a:p>
                      <a:pPr indent="-419100" lvl="0" marL="457200" rtl="0" algn="l">
                        <a:lnSpc>
                          <a:spcPct val="107916"/>
                        </a:lnSpc>
                        <a:spcBef>
                          <a:spcPts val="0"/>
                        </a:spcBef>
                        <a:spcAft>
                          <a:spcPts val="0"/>
                        </a:spcAft>
                        <a:buSzPts val="3000"/>
                        <a:buChar char="●"/>
                      </a:pPr>
                      <a:r>
                        <a:rPr lang="en-US" sz="3000"/>
                        <a:t>B. Owner Class (B) — Small factories or stores with limited inventory </a:t>
                      </a:r>
                      <a:endParaRPr sz="3000"/>
                    </a:p>
                    <a:p>
                      <a:pPr indent="-419100" lvl="0" marL="457200" rtl="0" algn="l">
                        <a:lnSpc>
                          <a:spcPct val="107916"/>
                        </a:lnSpc>
                        <a:spcBef>
                          <a:spcPts val="0"/>
                        </a:spcBef>
                        <a:spcAft>
                          <a:spcPts val="0"/>
                        </a:spcAft>
                        <a:buSzPts val="3000"/>
                        <a:buChar char="●"/>
                      </a:pPr>
                      <a:r>
                        <a:rPr lang="en-US" sz="3000"/>
                        <a:t>Hypermarket Distribution Centers</a:t>
                      </a:r>
                      <a:endParaRPr sz="3000"/>
                    </a:p>
                    <a:p>
                      <a:pPr indent="-419100" lvl="0" marL="457200" rtl="0" algn="l">
                        <a:lnSpc>
                          <a:spcPct val="107916"/>
                        </a:lnSpc>
                        <a:spcBef>
                          <a:spcPts val="0"/>
                        </a:spcBef>
                        <a:spcAft>
                          <a:spcPts val="0"/>
                        </a:spcAft>
                        <a:buSzPts val="3000"/>
                        <a:buChar char="●"/>
                      </a:pPr>
                      <a:r>
                        <a:rPr lang="en-US" sz="3000"/>
                        <a:t> Cold Storage Facilities </a:t>
                      </a:r>
                      <a:endParaRPr sz="3000"/>
                    </a:p>
                  </a:txBody>
                  <a:tcPr marT="0" marB="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20025">
                <a:tc vMerge="1"/>
                <a:tc>
                  <a:txBody>
                    <a:bodyPr/>
                    <a:lstStyle/>
                    <a:p>
                      <a:pPr indent="0" lvl="0" marL="0" marR="0" rtl="0" algn="l">
                        <a:lnSpc>
                          <a:spcPct val="107000"/>
                        </a:lnSpc>
                        <a:spcBef>
                          <a:spcPts val="0"/>
                        </a:spcBef>
                        <a:spcAft>
                          <a:spcPts val="0"/>
                        </a:spcAft>
                        <a:buNone/>
                      </a:pPr>
                      <a:r>
                        <a:rPr lang="en-US" sz="3000" u="none" cap="none" strike="noStrike"/>
                        <a:t>Key Resources </a:t>
                      </a:r>
                      <a:endParaRPr sz="3000" u="none" cap="none" strike="noStrike"/>
                    </a:p>
                    <a:p>
                      <a:pPr indent="-419100" lvl="0" marL="457200" rtl="0" algn="l">
                        <a:lnSpc>
                          <a:spcPct val="107916"/>
                        </a:lnSpc>
                        <a:spcBef>
                          <a:spcPts val="0"/>
                        </a:spcBef>
                        <a:spcAft>
                          <a:spcPts val="0"/>
                        </a:spcAft>
                        <a:buSzPts val="3000"/>
                        <a:buChar char="●"/>
                      </a:pPr>
                      <a:r>
                        <a:rPr lang="en-US" sz="3000"/>
                        <a:t>Hardware (Sensors &amp; Dimmers) </a:t>
                      </a:r>
                      <a:endParaRPr sz="3000"/>
                    </a:p>
                    <a:p>
                      <a:pPr indent="-419100" lvl="0" marL="457200" rtl="0" algn="l">
                        <a:lnSpc>
                          <a:spcPct val="107916"/>
                        </a:lnSpc>
                        <a:spcBef>
                          <a:spcPts val="0"/>
                        </a:spcBef>
                        <a:spcAft>
                          <a:spcPts val="0"/>
                        </a:spcAft>
                        <a:buSzPts val="3000"/>
                        <a:buChar char="●"/>
                      </a:pPr>
                      <a:r>
                        <a:rPr lang="en-US" sz="3000"/>
                        <a:t>Control Software </a:t>
                      </a:r>
                      <a:endParaRPr sz="3000"/>
                    </a:p>
                    <a:p>
                      <a:pPr indent="-419100" lvl="0" marL="457200" rtl="0" algn="l">
                        <a:lnSpc>
                          <a:spcPct val="107916"/>
                        </a:lnSpc>
                        <a:spcBef>
                          <a:spcPts val="0"/>
                        </a:spcBef>
                        <a:spcAft>
                          <a:spcPts val="0"/>
                        </a:spcAft>
                        <a:buSzPts val="3000"/>
                        <a:buChar char="●"/>
                      </a:pPr>
                      <a:r>
                        <a:rPr lang="en-US" sz="3000"/>
                        <a:t>Reporting System </a:t>
                      </a:r>
                      <a:endParaRPr sz="3000"/>
                    </a:p>
                    <a:p>
                      <a:pPr indent="-419100" lvl="0" marL="457200" rtl="0" algn="l">
                        <a:lnSpc>
                          <a:spcPct val="107916"/>
                        </a:lnSpc>
                        <a:spcBef>
                          <a:spcPts val="0"/>
                        </a:spcBef>
                        <a:spcAft>
                          <a:spcPts val="0"/>
                        </a:spcAft>
                        <a:buSzPts val="3000"/>
                        <a:buChar char="●"/>
                      </a:pPr>
                      <a:r>
                        <a:rPr lang="en-US" sz="3000"/>
                        <a:t>Engineering Team </a:t>
                      </a:r>
                      <a:endParaRPr sz="3000"/>
                    </a:p>
                    <a:p>
                      <a:pPr indent="-419100" lvl="0" marL="457200" rtl="0" algn="l">
                        <a:lnSpc>
                          <a:spcPct val="107916"/>
                        </a:lnSpc>
                        <a:spcBef>
                          <a:spcPts val="0"/>
                        </a:spcBef>
                        <a:spcAft>
                          <a:spcPts val="0"/>
                        </a:spcAft>
                        <a:buSzPts val="3000"/>
                        <a:buChar char="●"/>
                      </a:pPr>
                      <a:r>
                        <a:rPr lang="en-US" sz="3000"/>
                        <a:t>Cloud Infrastructure</a:t>
                      </a:r>
                      <a:endParaRPr sz="3000"/>
                    </a:p>
                  </a:txBody>
                  <a:tcPr marT="0" marB="0" marR="68575" marL="6857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vMerge="1"/>
                <a:tc>
                  <a:txBody>
                    <a:bodyPr/>
                    <a:lstStyle/>
                    <a:p>
                      <a:pPr indent="-419100" lvl="0" marL="457200" marR="0" rtl="0" algn="l">
                        <a:lnSpc>
                          <a:spcPct val="107000"/>
                        </a:lnSpc>
                        <a:spcBef>
                          <a:spcPts val="0"/>
                        </a:spcBef>
                        <a:spcAft>
                          <a:spcPts val="0"/>
                        </a:spcAft>
                        <a:buSzPts val="3000"/>
                        <a:buChar char="●"/>
                      </a:pPr>
                      <a:r>
                        <a:rPr lang="en-US" sz="3000" u="none" cap="none" strike="noStrike"/>
                        <a:t>Channels </a:t>
                      </a:r>
                      <a:r>
                        <a:rPr lang="en-US" sz="3000"/>
                        <a:t>Direct Sales</a:t>
                      </a:r>
                      <a:endParaRPr sz="3000"/>
                    </a:p>
                    <a:p>
                      <a:pPr indent="-419100" lvl="0" marL="457200" rtl="0" algn="l">
                        <a:lnSpc>
                          <a:spcPct val="107916"/>
                        </a:lnSpc>
                        <a:spcBef>
                          <a:spcPts val="0"/>
                        </a:spcBef>
                        <a:spcAft>
                          <a:spcPts val="0"/>
                        </a:spcAft>
                        <a:buSzPts val="3000"/>
                        <a:buChar char="●"/>
                      </a:pPr>
                      <a:r>
                        <a:rPr lang="en-US" sz="3000"/>
                        <a:t> Maintenance Alerts &amp; Dashboard </a:t>
                      </a:r>
                      <a:endParaRPr sz="3000"/>
                    </a:p>
                    <a:p>
                      <a:pPr indent="-419100" lvl="0" marL="457200" rtl="0" algn="l">
                        <a:lnSpc>
                          <a:spcPct val="107916"/>
                        </a:lnSpc>
                        <a:spcBef>
                          <a:spcPts val="0"/>
                        </a:spcBef>
                        <a:spcAft>
                          <a:spcPts val="0"/>
                        </a:spcAft>
                        <a:buSzPts val="3000"/>
                        <a:buChar char="●"/>
                      </a:pPr>
                      <a:r>
                        <a:rPr lang="en-US" sz="3000"/>
                        <a:t>Electrical Contractor Partners</a:t>
                      </a:r>
                      <a:endParaRPr sz="3000"/>
                    </a:p>
                    <a:p>
                      <a:pPr indent="-419100" lvl="0" marL="457200" rtl="0" algn="l">
                        <a:lnSpc>
                          <a:spcPct val="107916"/>
                        </a:lnSpc>
                        <a:spcBef>
                          <a:spcPts val="0"/>
                        </a:spcBef>
                        <a:spcAft>
                          <a:spcPts val="0"/>
                        </a:spcAft>
                        <a:buSzPts val="3000"/>
                        <a:buChar char="●"/>
                      </a:pPr>
                      <a:r>
                        <a:rPr lang="en-US" sz="3000"/>
                        <a:t> Trade Shows &amp; Exhibitions</a:t>
                      </a:r>
                      <a:endParaRPr sz="3000"/>
                    </a:p>
                  </a:txBody>
                  <a:tcPr marT="0" marB="0" marR="68575" marL="6857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vMerge="1"/>
              </a:tr>
              <a:tr h="3012175">
                <a:tc gridSpan="3">
                  <a:txBody>
                    <a:bodyPr/>
                    <a:lstStyle/>
                    <a:p>
                      <a:pPr indent="0" lvl="0" marL="0" marR="0" rtl="0" algn="l">
                        <a:lnSpc>
                          <a:spcPct val="107000"/>
                        </a:lnSpc>
                        <a:spcBef>
                          <a:spcPts val="0"/>
                        </a:spcBef>
                        <a:spcAft>
                          <a:spcPts val="0"/>
                        </a:spcAft>
                        <a:buClr>
                          <a:srgbClr val="000000"/>
                        </a:buClr>
                        <a:buSzPts val="2800"/>
                        <a:buFont typeface="Arial"/>
                        <a:buNone/>
                      </a:pPr>
                      <a:r>
                        <a:rPr lang="en-US" sz="3000" cap="none" strike="noStrike"/>
                        <a:t>Cost Structure </a:t>
                      </a:r>
                      <a:endParaRPr sz="3000"/>
                    </a:p>
                    <a:p>
                      <a:pPr indent="-419100" lvl="0" marL="457200" rtl="0" algn="l">
                        <a:lnSpc>
                          <a:spcPct val="107916"/>
                        </a:lnSpc>
                        <a:spcBef>
                          <a:spcPts val="0"/>
                        </a:spcBef>
                        <a:spcAft>
                          <a:spcPts val="0"/>
                        </a:spcAft>
                        <a:buSzPts val="3000"/>
                        <a:buChar char="●"/>
                      </a:pPr>
                      <a:r>
                        <a:rPr lang="en-US" sz="3000"/>
                        <a:t> Sensor Procurement </a:t>
                      </a:r>
                      <a:endParaRPr sz="3000"/>
                    </a:p>
                    <a:p>
                      <a:pPr indent="-419100" lvl="0" marL="457200" rtl="0" algn="l">
                        <a:lnSpc>
                          <a:spcPct val="107916"/>
                        </a:lnSpc>
                        <a:spcBef>
                          <a:spcPts val="0"/>
                        </a:spcBef>
                        <a:spcAft>
                          <a:spcPts val="0"/>
                        </a:spcAft>
                        <a:buSzPts val="3000"/>
                        <a:buChar char="●"/>
                      </a:pPr>
                      <a:r>
                        <a:rPr lang="en-US" sz="3000"/>
                        <a:t> Software Development</a:t>
                      </a:r>
                      <a:endParaRPr sz="3000"/>
                    </a:p>
                    <a:p>
                      <a:pPr indent="-419100" lvl="0" marL="457200" rtl="0" algn="l">
                        <a:lnSpc>
                          <a:spcPct val="107916"/>
                        </a:lnSpc>
                        <a:spcBef>
                          <a:spcPts val="0"/>
                        </a:spcBef>
                        <a:spcAft>
                          <a:spcPts val="0"/>
                        </a:spcAft>
                        <a:buSzPts val="3000"/>
                        <a:buChar char="●"/>
                      </a:pPr>
                      <a:r>
                        <a:rPr lang="en-US" sz="3000"/>
                        <a:t>Maintenance &amp; Support </a:t>
                      </a:r>
                      <a:endParaRPr sz="3000"/>
                    </a:p>
                    <a:p>
                      <a:pPr indent="-419100" lvl="0" marL="457200" rtl="0" algn="l">
                        <a:lnSpc>
                          <a:spcPct val="107916"/>
                        </a:lnSpc>
                        <a:spcBef>
                          <a:spcPts val="0"/>
                        </a:spcBef>
                        <a:spcAft>
                          <a:spcPts val="0"/>
                        </a:spcAft>
                        <a:buSzPts val="3000"/>
                        <a:buChar char="●"/>
                      </a:pPr>
                      <a:r>
                        <a:rPr lang="en-US" sz="3000"/>
                        <a:t>Installation &amp; Labour </a:t>
                      </a:r>
                      <a:endParaRPr sz="3000"/>
                    </a:p>
                    <a:p>
                      <a:pPr indent="-419100" lvl="0" marL="457200" rtl="0" algn="l">
                        <a:lnSpc>
                          <a:spcPct val="107916"/>
                        </a:lnSpc>
                        <a:spcBef>
                          <a:spcPts val="0"/>
                        </a:spcBef>
                        <a:spcAft>
                          <a:spcPts val="0"/>
                        </a:spcAft>
                        <a:buSzPts val="3000"/>
                        <a:buChar char="●"/>
                      </a:pPr>
                      <a:r>
                        <a:rPr lang="en-US" sz="3000"/>
                        <a:t>Cloud Hosting</a:t>
                      </a:r>
                      <a:endParaRPr sz="3000"/>
                    </a:p>
                  </a:txBody>
                  <a:tcPr marT="0" marB="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gridSpan="2">
                  <a:txBody>
                    <a:bodyPr/>
                    <a:lstStyle/>
                    <a:p>
                      <a:pPr indent="0" lvl="0" marL="0" marR="0" rtl="0" algn="l">
                        <a:lnSpc>
                          <a:spcPct val="107000"/>
                        </a:lnSpc>
                        <a:spcBef>
                          <a:spcPts val="0"/>
                        </a:spcBef>
                        <a:spcAft>
                          <a:spcPts val="0"/>
                        </a:spcAft>
                        <a:buClr>
                          <a:srgbClr val="000000"/>
                        </a:buClr>
                        <a:buSzPts val="2800"/>
                        <a:buFont typeface="Arial"/>
                        <a:buNone/>
                      </a:pPr>
                      <a:r>
                        <a:rPr lang="en-US" sz="3000" u="none" cap="none" strike="noStrike"/>
                        <a:t>Revenue Streams </a:t>
                      </a:r>
                      <a:endParaRPr sz="3000" u="none" cap="none" strike="noStrike"/>
                    </a:p>
                    <a:p>
                      <a:pPr indent="-419100" lvl="0" marL="457200" rtl="0" algn="l">
                        <a:lnSpc>
                          <a:spcPct val="107916"/>
                        </a:lnSpc>
                        <a:spcBef>
                          <a:spcPts val="0"/>
                        </a:spcBef>
                        <a:spcAft>
                          <a:spcPts val="0"/>
                        </a:spcAft>
                        <a:buSzPts val="3000"/>
                        <a:buChar char="●"/>
                      </a:pPr>
                      <a:r>
                        <a:rPr lang="en-US" sz="3000"/>
                        <a:t> Installation Fees </a:t>
                      </a:r>
                      <a:endParaRPr sz="3000"/>
                    </a:p>
                    <a:p>
                      <a:pPr indent="-419100" lvl="0" marL="457200" rtl="0" algn="l">
                        <a:lnSpc>
                          <a:spcPct val="107916"/>
                        </a:lnSpc>
                        <a:spcBef>
                          <a:spcPts val="0"/>
                        </a:spcBef>
                        <a:spcAft>
                          <a:spcPts val="0"/>
                        </a:spcAft>
                        <a:buSzPts val="3000"/>
                        <a:buChar char="●"/>
                      </a:pPr>
                      <a:r>
                        <a:rPr lang="en-US" sz="3000"/>
                        <a:t>Service / Subscription (monthly or annual)</a:t>
                      </a:r>
                      <a:endParaRPr sz="3000"/>
                    </a:p>
                    <a:p>
                      <a:pPr indent="-419100" lvl="0" marL="457200" rtl="0" algn="l">
                        <a:lnSpc>
                          <a:spcPct val="107916"/>
                        </a:lnSpc>
                        <a:spcBef>
                          <a:spcPts val="0"/>
                        </a:spcBef>
                        <a:spcAft>
                          <a:spcPts val="0"/>
                        </a:spcAft>
                        <a:buSzPts val="3000"/>
                        <a:buChar char="●"/>
                      </a:pPr>
                      <a:r>
                        <a:rPr lang="en-US" sz="3000"/>
                        <a:t>Maintenance SLA Contracts</a:t>
                      </a:r>
                      <a:endParaRPr sz="3000"/>
                    </a:p>
                    <a:p>
                      <a:pPr indent="-419100" lvl="0" marL="457200" rtl="0" algn="l">
                        <a:lnSpc>
                          <a:spcPct val="107916"/>
                        </a:lnSpc>
                        <a:spcBef>
                          <a:spcPts val="0"/>
                        </a:spcBef>
                        <a:spcAft>
                          <a:spcPts val="0"/>
                        </a:spcAft>
                        <a:buSzPts val="3000"/>
                        <a:buChar char="●"/>
                      </a:pPr>
                      <a:r>
                        <a:rPr lang="en-US" sz="3000"/>
                        <a:t>Energy Savings Performance Share</a:t>
                      </a:r>
                      <a:endParaRPr sz="3000"/>
                    </a:p>
                  </a:txBody>
                  <a:tcPr marT="0" marB="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bl>
          </a:graphicData>
        </a:graphic>
      </p:graphicFrame>
      <p:pic>
        <p:nvPicPr>
          <p:cNvPr id="60" name="Google Shape;60;p1"/>
          <p:cNvPicPr preferRelativeResize="0"/>
          <p:nvPr/>
        </p:nvPicPr>
        <p:blipFill rotWithShape="1">
          <a:blip r:embed="rId12">
            <a:alphaModFix/>
          </a:blip>
          <a:srcRect b="0" l="0" r="0" t="0"/>
          <a:stretch/>
        </p:blipFill>
        <p:spPr>
          <a:xfrm>
            <a:off x="15027105" y="14736462"/>
            <a:ext cx="643583" cy="631883"/>
          </a:xfrm>
          <a:prstGeom prst="rect">
            <a:avLst/>
          </a:prstGeom>
          <a:noFill/>
          <a:ln>
            <a:noFill/>
          </a:ln>
        </p:spPr>
      </p:pic>
      <p:pic>
        <p:nvPicPr>
          <p:cNvPr id="61" name="Google Shape;61;p1"/>
          <p:cNvPicPr preferRelativeResize="0"/>
          <p:nvPr/>
        </p:nvPicPr>
        <p:blipFill rotWithShape="1">
          <a:blip r:embed="rId13">
            <a:alphaModFix/>
          </a:blip>
          <a:srcRect b="0" l="0" r="0" t="0"/>
          <a:stretch/>
        </p:blipFill>
        <p:spPr>
          <a:xfrm>
            <a:off x="19364808" y="14818217"/>
            <a:ext cx="585076" cy="577275"/>
          </a:xfrm>
          <a:prstGeom prst="rect">
            <a:avLst/>
          </a:prstGeom>
          <a:noFill/>
          <a:ln>
            <a:noFill/>
          </a:ln>
        </p:spPr>
      </p:pic>
      <p:pic>
        <p:nvPicPr>
          <p:cNvPr id="62" name="Google Shape;62;p1"/>
          <p:cNvPicPr preferRelativeResize="0"/>
          <p:nvPr/>
        </p:nvPicPr>
        <p:blipFill rotWithShape="1">
          <a:blip r:embed="rId14">
            <a:alphaModFix/>
          </a:blip>
          <a:srcRect b="0" l="0" r="0" t="0"/>
          <a:stretch/>
        </p:blipFill>
        <p:spPr>
          <a:xfrm>
            <a:off x="23352851" y="14763765"/>
            <a:ext cx="733296" cy="604580"/>
          </a:xfrm>
          <a:prstGeom prst="rect">
            <a:avLst/>
          </a:prstGeom>
          <a:noFill/>
          <a:ln>
            <a:noFill/>
          </a:ln>
        </p:spPr>
      </p:pic>
      <p:pic>
        <p:nvPicPr>
          <p:cNvPr id="63" name="Google Shape;63;p1"/>
          <p:cNvPicPr preferRelativeResize="0"/>
          <p:nvPr/>
        </p:nvPicPr>
        <p:blipFill rotWithShape="1">
          <a:blip r:embed="rId15">
            <a:alphaModFix/>
          </a:blip>
          <a:srcRect b="0" l="0" r="0" t="0"/>
          <a:stretch/>
        </p:blipFill>
        <p:spPr>
          <a:xfrm>
            <a:off x="27853817" y="14764936"/>
            <a:ext cx="581175" cy="495366"/>
          </a:xfrm>
          <a:prstGeom prst="rect">
            <a:avLst/>
          </a:prstGeom>
          <a:noFill/>
          <a:ln>
            <a:noFill/>
          </a:ln>
        </p:spPr>
      </p:pic>
      <p:pic>
        <p:nvPicPr>
          <p:cNvPr id="64" name="Google Shape;64;p1"/>
          <p:cNvPicPr preferRelativeResize="0"/>
          <p:nvPr/>
        </p:nvPicPr>
        <p:blipFill rotWithShape="1">
          <a:blip r:embed="rId16">
            <a:alphaModFix/>
          </a:blip>
          <a:srcRect b="0" l="0" r="0" t="0"/>
          <a:stretch/>
        </p:blipFill>
        <p:spPr>
          <a:xfrm>
            <a:off x="31914908" y="14834536"/>
            <a:ext cx="690392" cy="631883"/>
          </a:xfrm>
          <a:prstGeom prst="rect">
            <a:avLst/>
          </a:prstGeom>
          <a:noFill/>
          <a:ln>
            <a:noFill/>
          </a:ln>
        </p:spPr>
      </p:pic>
      <p:pic>
        <p:nvPicPr>
          <p:cNvPr id="65" name="Google Shape;65;p1"/>
          <p:cNvPicPr preferRelativeResize="0"/>
          <p:nvPr/>
        </p:nvPicPr>
        <p:blipFill rotWithShape="1">
          <a:blip r:embed="rId17">
            <a:alphaModFix/>
          </a:blip>
          <a:srcRect b="0" l="0" r="0" t="0"/>
          <a:stretch/>
        </p:blipFill>
        <p:spPr>
          <a:xfrm>
            <a:off x="19621502" y="21455857"/>
            <a:ext cx="458875" cy="600700"/>
          </a:xfrm>
          <a:prstGeom prst="rect">
            <a:avLst/>
          </a:prstGeom>
          <a:noFill/>
          <a:ln>
            <a:noFill/>
          </a:ln>
        </p:spPr>
      </p:pic>
      <p:pic>
        <p:nvPicPr>
          <p:cNvPr id="66" name="Google Shape;66;p1"/>
          <p:cNvPicPr preferRelativeResize="0"/>
          <p:nvPr/>
        </p:nvPicPr>
        <p:blipFill rotWithShape="1">
          <a:blip r:embed="rId18">
            <a:alphaModFix/>
          </a:blip>
          <a:srcRect b="0" l="0" r="0" t="0"/>
          <a:stretch/>
        </p:blipFill>
        <p:spPr>
          <a:xfrm>
            <a:off x="27736800" y="19216851"/>
            <a:ext cx="698192" cy="561673"/>
          </a:xfrm>
          <a:prstGeom prst="rect">
            <a:avLst/>
          </a:prstGeom>
          <a:noFill/>
          <a:ln>
            <a:noFill/>
          </a:ln>
        </p:spPr>
      </p:pic>
      <p:pic>
        <p:nvPicPr>
          <p:cNvPr id="67" name="Google Shape;67;p1"/>
          <p:cNvPicPr preferRelativeResize="0"/>
          <p:nvPr/>
        </p:nvPicPr>
        <p:blipFill rotWithShape="1">
          <a:blip r:embed="rId19">
            <a:alphaModFix/>
          </a:blip>
          <a:srcRect b="0" l="0" r="0" t="0"/>
          <a:stretch/>
        </p:blipFill>
        <p:spPr>
          <a:xfrm>
            <a:off x="23490073" y="25471896"/>
            <a:ext cx="458875" cy="433157"/>
          </a:xfrm>
          <a:prstGeom prst="rect">
            <a:avLst/>
          </a:prstGeom>
          <a:noFill/>
          <a:ln>
            <a:noFill/>
          </a:ln>
        </p:spPr>
      </p:pic>
      <p:pic>
        <p:nvPicPr>
          <p:cNvPr id="68" name="Google Shape;68;p1"/>
          <p:cNvPicPr preferRelativeResize="0"/>
          <p:nvPr/>
        </p:nvPicPr>
        <p:blipFill rotWithShape="1">
          <a:blip r:embed="rId20">
            <a:alphaModFix/>
          </a:blip>
          <a:srcRect b="0" l="0" r="0" t="0"/>
          <a:stretch/>
        </p:blipFill>
        <p:spPr>
          <a:xfrm>
            <a:off x="27799211" y="21581868"/>
            <a:ext cx="690400" cy="511955"/>
          </a:xfrm>
          <a:prstGeom prst="rect">
            <a:avLst/>
          </a:prstGeom>
          <a:noFill/>
          <a:ln>
            <a:noFill/>
          </a:ln>
        </p:spPr>
      </p:pic>
      <p:pic>
        <p:nvPicPr>
          <p:cNvPr id="69" name="Google Shape;69;p1"/>
          <p:cNvPicPr preferRelativeResize="0"/>
          <p:nvPr/>
        </p:nvPicPr>
        <p:blipFill rotWithShape="1">
          <a:blip r:embed="rId21">
            <a:alphaModFix/>
          </a:blip>
          <a:srcRect b="-10" l="35450" r="50440" t="1768"/>
          <a:stretch/>
        </p:blipFill>
        <p:spPr>
          <a:xfrm>
            <a:off x="7818403" y="662821"/>
            <a:ext cx="2238363" cy="2167965"/>
          </a:xfrm>
          <a:prstGeom prst="rect">
            <a:avLst/>
          </a:prstGeom>
          <a:noFill/>
          <a:ln>
            <a:noFill/>
          </a:ln>
        </p:spPr>
      </p:pic>
      <p:pic>
        <p:nvPicPr>
          <p:cNvPr descr="C:\Users\marwa.moaz\Downloads\WhatsApp Image 2024-05-28 at 12.46.13 PM.jpeg" id="70" name="Google Shape;70;p1"/>
          <p:cNvPicPr preferRelativeResize="0"/>
          <p:nvPr/>
        </p:nvPicPr>
        <p:blipFill rotWithShape="1">
          <a:blip r:embed="rId22">
            <a:alphaModFix/>
          </a:blip>
          <a:srcRect b="16659" l="7736" r="8081" t="13670"/>
          <a:stretch/>
        </p:blipFill>
        <p:spPr>
          <a:xfrm>
            <a:off x="33834421" y="666575"/>
            <a:ext cx="2354805" cy="1951356"/>
          </a:xfrm>
          <a:prstGeom prst="rect">
            <a:avLst/>
          </a:prstGeom>
          <a:noFill/>
          <a:ln>
            <a:noFill/>
          </a:ln>
        </p:spPr>
      </p:pic>
      <p:sp>
        <p:nvSpPr>
          <p:cNvPr id="71" name="Google Shape;71;p1"/>
          <p:cNvSpPr/>
          <p:nvPr/>
        </p:nvSpPr>
        <p:spPr>
          <a:xfrm>
            <a:off x="33535615" y="25345573"/>
            <a:ext cx="9144000" cy="685800"/>
          </a:xfrm>
          <a:prstGeom prst="rect">
            <a:avLst/>
          </a:prstGeom>
          <a:solidFill>
            <a:srgbClr val="366092"/>
          </a:solidFill>
          <a:ln cap="flat" cmpd="sng" w="12700">
            <a:solidFill>
              <a:srgbClr val="395E89"/>
            </a:solidFill>
            <a:prstDash val="solid"/>
            <a:round/>
            <a:headEnd len="sm" w="sm" type="none"/>
            <a:tailEnd len="sm" w="sm" type="none"/>
          </a:ln>
        </p:spPr>
        <p:txBody>
          <a:bodyPr anchorCtr="0" anchor="ctr" bIns="34275" lIns="68550" spcFirstLastPara="1" rIns="68550" wrap="square" tIns="34275">
            <a:noAutofit/>
          </a:bodyPr>
          <a:lstStyle/>
          <a:p>
            <a:pPr indent="0" lvl="0" marL="0" rtl="0" algn="ctr">
              <a:spcBef>
                <a:spcPts val="0"/>
              </a:spcBef>
              <a:spcAft>
                <a:spcPts val="0"/>
              </a:spcAft>
              <a:buClr>
                <a:schemeClr val="dk1"/>
              </a:buClr>
              <a:buSzPts val="6000"/>
              <a:buFont typeface="Arial"/>
              <a:buNone/>
            </a:pPr>
            <a:r>
              <a:rPr b="1" lang="en-US" sz="4400">
                <a:solidFill>
                  <a:schemeClr val="lt1"/>
                </a:solidFill>
                <a:latin typeface="Calibri"/>
                <a:ea typeface="Calibri"/>
                <a:cs typeface="Calibri"/>
                <a:sym typeface="Calibri"/>
              </a:rPr>
              <a:t>Ac</a:t>
            </a:r>
            <a:r>
              <a:rPr b="1" lang="en-US" sz="4400">
                <a:solidFill>
                  <a:schemeClr val="lt1"/>
                </a:solidFill>
                <a:latin typeface="Calibri"/>
                <a:ea typeface="Calibri"/>
                <a:cs typeface="Calibri"/>
                <a:sym typeface="Calibri"/>
              </a:rPr>
              <a:t>knowledgement</a:t>
            </a:r>
            <a:endParaRPr b="1" i="0" sz="4400" u="none" cap="none" strike="noStrike">
              <a:solidFill>
                <a:srgbClr val="000000"/>
              </a:solidFill>
            </a:endParaRPr>
          </a:p>
        </p:txBody>
      </p:sp>
      <p:pic>
        <p:nvPicPr>
          <p:cNvPr id="72" name="Google Shape;72;p1"/>
          <p:cNvPicPr preferRelativeResize="0"/>
          <p:nvPr/>
        </p:nvPicPr>
        <p:blipFill>
          <a:blip r:embed="rId23">
            <a:alphaModFix/>
          </a:blip>
          <a:stretch>
            <a:fillRect/>
          </a:stretch>
        </p:blipFill>
        <p:spPr>
          <a:xfrm>
            <a:off x="11408175" y="5697325"/>
            <a:ext cx="12929650" cy="7339250"/>
          </a:xfrm>
          <a:prstGeom prst="rect">
            <a:avLst/>
          </a:prstGeom>
          <a:noFill/>
          <a:ln>
            <a:noFill/>
          </a:ln>
        </p:spPr>
      </p:pic>
      <p:sp>
        <p:nvSpPr>
          <p:cNvPr id="73" name="Google Shape;73;p1"/>
          <p:cNvSpPr txBox="1"/>
          <p:nvPr/>
        </p:nvSpPr>
        <p:spPr>
          <a:xfrm>
            <a:off x="24193500" y="6038275"/>
            <a:ext cx="8176200" cy="695730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The Energy Saver system was tested in a simulated warehouse aisle environment over a 4-week period. Results showed a significant reduction in energy consumption across all scenarios. During active working hours, the system reduced lighting usage to approximately 35–40% by focusing light only on occupied zones, achieving savings of 60–65%. During idle and off-peak hours, lights automatically dropped to 20% standby mode, saving up to 80% of energy compared to conventional always-on systems. When natural daylight was available, the ambient light sensor further reduced artificial lighting, achieving an additional 40–60% reduction. Overall, the weekly average energy consumption dropped from 100% to approximately 30–35%, representing a total saving of 65–70%. On the performance side, the sensors detected worker presence within 2–3 seconds of entry and dimmed lights within 5 seconds of confirmed inactivity. Motion detection accuracy reached 96.4% with a false-positive rate below 3%, confirming the system's reliability for real warehouse environments.</a:t>
            </a:r>
            <a:endParaRPr sz="2400">
              <a:solidFill>
                <a:schemeClr val="dk1"/>
              </a:solidFill>
              <a:latin typeface="Calibri"/>
              <a:ea typeface="Calibri"/>
              <a:cs typeface="Calibri"/>
              <a:sym typeface="Calibri"/>
            </a:endParaRPr>
          </a:p>
        </p:txBody>
      </p:sp>
      <p:pic>
        <p:nvPicPr>
          <p:cNvPr id="74" name="Google Shape;74;p1"/>
          <p:cNvPicPr preferRelativeResize="0"/>
          <p:nvPr/>
        </p:nvPicPr>
        <p:blipFill>
          <a:blip r:embed="rId24">
            <a:alphaModFix/>
          </a:blip>
          <a:stretch>
            <a:fillRect/>
          </a:stretch>
        </p:blipFill>
        <p:spPr>
          <a:xfrm>
            <a:off x="822652" y="925025"/>
            <a:ext cx="6522496" cy="1605151"/>
          </a:xfrm>
          <a:prstGeom prst="rect">
            <a:avLst/>
          </a:prstGeom>
          <a:noFill/>
          <a:ln>
            <a:noFill/>
          </a:ln>
        </p:spPr>
      </p:pic>
      <p:graphicFrame>
        <p:nvGraphicFramePr>
          <p:cNvPr id="75" name="Google Shape;75;p1"/>
          <p:cNvGraphicFramePr/>
          <p:nvPr/>
        </p:nvGraphicFramePr>
        <p:xfrm>
          <a:off x="1177563" y="22631388"/>
          <a:ext cx="3000000" cy="3000000"/>
        </p:xfrm>
        <a:graphic>
          <a:graphicData uri="http://schemas.openxmlformats.org/drawingml/2006/table">
            <a:tbl>
              <a:tblPr>
                <a:noFill/>
                <a:tableStyleId>{8107AD16-9757-4BE5-AE0E-33A249BAAD1F}</a:tableStyleId>
              </a:tblPr>
              <a:tblGrid>
                <a:gridCol w="4640550"/>
                <a:gridCol w="4640550"/>
              </a:tblGrid>
              <a:tr h="1302700">
                <a:tc>
                  <a:txBody>
                    <a:bodyPr/>
                    <a:lstStyle/>
                    <a:p>
                      <a:pPr indent="0" lvl="0" marL="0" rtl="0" algn="l">
                        <a:spcBef>
                          <a:spcPts val="0"/>
                        </a:spcBef>
                        <a:spcAft>
                          <a:spcPts val="0"/>
                        </a:spcAft>
                        <a:buNone/>
                      </a:pPr>
                      <a:r>
                        <a:rPr lang="en-US" sz="3000"/>
                        <a:t>Claude</a:t>
                      </a:r>
                      <a:endParaRPr sz="3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449175">
                <a:tc>
                  <a:txBody>
                    <a:bodyPr/>
                    <a:lstStyle/>
                    <a:p>
                      <a:pPr indent="0" lvl="0" marL="0" rtl="0" algn="l">
                        <a:spcBef>
                          <a:spcPts val="0"/>
                        </a:spcBef>
                        <a:spcAft>
                          <a:spcPts val="0"/>
                        </a:spcAft>
                        <a:buNone/>
                      </a:pPr>
                      <a:r>
                        <a:rPr lang="en-US" sz="3000"/>
                        <a:t>VS Code</a:t>
                      </a:r>
                      <a:endParaRPr sz="3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52675">
                <a:tc>
                  <a:txBody>
                    <a:bodyPr/>
                    <a:lstStyle/>
                    <a:p>
                      <a:pPr indent="0" lvl="0" marL="0" rtl="0" algn="l">
                        <a:lnSpc>
                          <a:spcPct val="107916"/>
                        </a:lnSpc>
                        <a:spcBef>
                          <a:spcPts val="0"/>
                        </a:spcBef>
                        <a:spcAft>
                          <a:spcPts val="0"/>
                        </a:spcAft>
                        <a:buNone/>
                      </a:pPr>
                      <a:r>
                        <a:rPr lang="en-US" sz="3000"/>
                        <a:t>UI</a:t>
                      </a:r>
                      <a:endParaRPr sz="3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52675">
                <a:tc>
                  <a:txBody>
                    <a:bodyPr/>
                    <a:lstStyle/>
                    <a:p>
                      <a:pPr indent="0" lvl="0" marL="0" rtl="0" algn="l">
                        <a:lnSpc>
                          <a:spcPct val="107916"/>
                        </a:lnSpc>
                        <a:spcBef>
                          <a:spcPts val="0"/>
                        </a:spcBef>
                        <a:spcAft>
                          <a:spcPts val="0"/>
                        </a:spcAft>
                        <a:buNone/>
                      </a:pPr>
                      <a:r>
                        <a:rPr lang="en-US" sz="3000"/>
                        <a:t>Chrome Browser</a:t>
                      </a:r>
                      <a:endParaRPr sz="3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76" name="Google Shape;76;p1" title="Claude-AI-logo-hero.jpg"/>
          <p:cNvPicPr preferRelativeResize="0"/>
          <p:nvPr/>
        </p:nvPicPr>
        <p:blipFill>
          <a:blip r:embed="rId25">
            <a:alphaModFix/>
          </a:blip>
          <a:stretch>
            <a:fillRect/>
          </a:stretch>
        </p:blipFill>
        <p:spPr>
          <a:xfrm>
            <a:off x="6794663" y="22869875"/>
            <a:ext cx="2907203" cy="939948"/>
          </a:xfrm>
          <a:prstGeom prst="rect">
            <a:avLst/>
          </a:prstGeom>
          <a:noFill/>
          <a:ln>
            <a:noFill/>
          </a:ln>
        </p:spPr>
      </p:pic>
      <p:pic>
        <p:nvPicPr>
          <p:cNvPr id="77" name="Google Shape;77;p1" title="Annotation 2026-04-30 151511.png"/>
          <p:cNvPicPr preferRelativeResize="0"/>
          <p:nvPr/>
        </p:nvPicPr>
        <p:blipFill>
          <a:blip r:embed="rId26">
            <a:alphaModFix/>
          </a:blip>
          <a:stretch>
            <a:fillRect/>
          </a:stretch>
        </p:blipFill>
        <p:spPr>
          <a:xfrm flipH="1" rot="10800000">
            <a:off x="7625590" y="24056345"/>
            <a:ext cx="1245325" cy="1247850"/>
          </a:xfrm>
          <a:prstGeom prst="rect">
            <a:avLst/>
          </a:prstGeom>
          <a:noFill/>
          <a:ln>
            <a:noFill/>
          </a:ln>
        </p:spPr>
      </p:pic>
      <p:pic>
        <p:nvPicPr>
          <p:cNvPr id="78" name="Google Shape;78;p1" title="Annotation 2026-04-30 151650.png"/>
          <p:cNvPicPr preferRelativeResize="0"/>
          <p:nvPr/>
        </p:nvPicPr>
        <p:blipFill>
          <a:blip r:embed="rId27">
            <a:alphaModFix/>
          </a:blip>
          <a:stretch>
            <a:fillRect/>
          </a:stretch>
        </p:blipFill>
        <p:spPr>
          <a:xfrm>
            <a:off x="6755825" y="25550725"/>
            <a:ext cx="2723550" cy="939951"/>
          </a:xfrm>
          <a:prstGeom prst="rect">
            <a:avLst/>
          </a:prstGeom>
          <a:noFill/>
          <a:ln>
            <a:noFill/>
          </a:ln>
        </p:spPr>
      </p:pic>
      <p:pic>
        <p:nvPicPr>
          <p:cNvPr id="79" name="Google Shape;79;p1" title="Google_Chrome-Logo.wine.png"/>
          <p:cNvPicPr preferRelativeResize="0"/>
          <p:nvPr/>
        </p:nvPicPr>
        <p:blipFill>
          <a:blip r:embed="rId28">
            <a:alphaModFix/>
          </a:blip>
          <a:stretch>
            <a:fillRect/>
          </a:stretch>
        </p:blipFill>
        <p:spPr>
          <a:xfrm>
            <a:off x="7543125" y="26791110"/>
            <a:ext cx="1410284" cy="9399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2013-02-10T21:14:00Z</dcterms:created>
  <dc:creator>Jay Larson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0B5207F951D546F8B70250D1EC894F78</vt:lpwstr>
  </property>
  <property fmtid="{D5CDD505-2E9C-101B-9397-08002B2CF9AE}" pid="3" name="KSOProductBuildVer">
    <vt:lpwstr>1033-11.2.0.11486</vt:lpwstr>
  </property>
</Properties>
</file>