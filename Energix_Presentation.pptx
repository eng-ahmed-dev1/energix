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4114800" cy="457200"/>
          </a:xfrm>
          <a:prstGeom prst="roundRect">
            <a:avLst/>
          </a:prstGeom>
          <a:solidFill>
            <a:srgbClr val="102A24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⚡ CAPSTONE 2026 | SMART WAREHOUSE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Energix — Smart Energy Platform</a:t>
            </a:r>
          </a:p>
          <a:p>
            <a:pPr>
              <a:spcAft>
                <a:spcPts val="1200"/>
              </a:spcAft>
              <a:defRPr sz="2200" b="1">
                <a:solidFill>
                  <a:srgbClr val="00D2FF"/>
                </a:solidFill>
                <a:latin typeface="Segoe UI"/>
              </a:defRPr>
            </a:pPr>
            <a:r>
              <a:t>نظام ذكي متكامل لترشيد طاقة المخازن بالـ IoT ومدعوم بمساعد الذكاء الاصطناعي Grok</a:t>
            </a:r>
          </a:p>
          <a:p>
            <a:pPr>
              <a:defRPr sz="1600">
                <a:solidFill>
                  <a:srgbClr val="A0AFC8"/>
                </a:solidFill>
                <a:latin typeface="Segoe UI"/>
              </a:defRPr>
            </a:pPr>
            <a:r>
              <a:t>20% Standby Mode • Dual Sensing • Daylight Harvesting • Grok AI Co-Pilot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3291840" cy="192024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400"/>
              </a:spcAft>
              <a:defRPr sz="3200" b="1">
                <a:solidFill>
                  <a:srgbClr val="00E676"/>
                </a:solidFill>
                <a:latin typeface="Segoe UI"/>
              </a:defRPr>
            </a:pPr>
            <a:r>
              <a:t>65% - 70%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Average Energy Saved</a:t>
            </a:r>
          </a:p>
          <a:p>
            <a:pPr>
              <a:defRPr sz="1300">
                <a:solidFill>
                  <a:srgbClr val="A0AFC8"/>
                </a:solidFill>
                <a:latin typeface="Segoe UI"/>
              </a:defRPr>
            </a:pPr>
            <a:r>
              <a:t>وفر كهرباء أسبوعي موثق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4297680"/>
            <a:ext cx="3291840" cy="192024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400"/>
              </a:spcAft>
              <a:defRPr sz="3200" b="1">
                <a:solidFill>
                  <a:srgbClr val="00D2FF"/>
                </a:solidFill>
                <a:latin typeface="Segoe UI"/>
              </a:defRPr>
            </a:pPr>
            <a:r>
              <a:t>20% Standby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Smooth PWM Safe Mode</a:t>
            </a:r>
          </a:p>
          <a:p>
            <a:pPr>
              <a:defRPr sz="1300">
                <a:solidFill>
                  <a:srgbClr val="A0AFC8"/>
                </a:solidFill>
                <a:latin typeface="Segoe UI"/>
              </a:defRPr>
            </a:pPr>
            <a:r>
              <a:t>حماية وحدات الـ LED من التلف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297680"/>
            <a:ext cx="3291840" cy="192024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FF8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400"/>
              </a:spcAft>
              <a:defRPr sz="3200" b="1">
                <a:solidFill>
                  <a:srgbClr val="FF8A48"/>
                </a:solidFill>
                <a:latin typeface="Segoe UI"/>
              </a:defRPr>
            </a:pPr>
            <a:r>
              <a:t>Grok (xAI)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Intelligent AI Co-Pilot</a:t>
            </a:r>
          </a:p>
          <a:p>
            <a:pPr>
              <a:defRPr sz="1300">
                <a:solidFill>
                  <a:srgbClr val="A0AFC8"/>
                </a:solidFill>
                <a:latin typeface="Segoe UI"/>
              </a:defRPr>
            </a:pPr>
            <a:r>
              <a:t>تحكم صوتي وتحليل استباقي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47472"/>
          </a:xfrm>
          <a:prstGeom prst="roundRect">
            <a:avLst/>
          </a:prstGeom>
          <a:solidFill>
            <a:srgbClr val="10262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⚡ CHALLENGE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Core Problem: Massive Energy Bleed &amp; Premature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أبعاد المشكلة: إهدار 24/7 واحتراق وحدات الإضاءة وغياب البيانات التحليلية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FF8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FF8A48"/>
                </a:solidFill>
                <a:latin typeface="Segoe UI"/>
              </a:defRPr>
            </a:pPr>
            <a:r>
              <a:t>⚡  إهدار مالي حاد (24/7 Waste)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المصابيح تظل مشتعلة بكامل طاقتها 100% طوال 24 ساعة دون انقطاع.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ممرات كاملة تبقى خالية لساعات طويلة مع استمرار استهلاك الكهرباء.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الإضاءة تلتهم ما يصل إلى 40% من تكاليف تشغيل المنشأة اللوجستية.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F44336"/>
                </a:solidFill>
                <a:latin typeface="Segoe UI"/>
              </a:defRPr>
            </a:pPr>
            <a:r>
              <a:t>💥  تلف المصابيح السريع (Burnout)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التشغيل المستمر يرفع الحمل الحراري ويدمر درايفرات ومحولات الـ LED.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الحساسات التقليدية التي تفصل للصفر (0%) تسبب صدمة كهربائية للمبات.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تكاليف باهظة لاستبدال وصيانة الإضاءة المعلقة في الأسقف العالية.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00D2FF"/>
                </a:solidFill>
                <a:latin typeface="Segoe UI"/>
              </a:defRPr>
            </a:pPr>
            <a:r>
              <a:t>📊  انعدام الرؤية البيانية (No Data)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افتقار مديري المخازن لتقارير أسبوعية تفصل حجم الهدر في كل ممر.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عدم وجود نظام تنبؤ بالأعطال: لا يُكتشف الحساس المعطل إلا بعد توقفه.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صعوبة اتخاذ قرارات دقيقة لترشيد الطاقة وإدارة ممرات المستودع.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47472"/>
          </a:xfrm>
          <a:prstGeom prst="roundRect">
            <a:avLst/>
          </a:prstGeom>
          <a:solidFill>
            <a:srgbClr val="10262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⚡ INNOVATIVE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Solution: Adaptive IoT Lighting &amp; 20% Standby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الحل الهندسي المعتمد: التحكم التكيفي وسر وضع الاستعداد لحماية الأصول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00E676"/>
                </a:solidFill>
                <a:latin typeface="Segoe UI"/>
              </a:defRPr>
            </a:pPr>
            <a:r>
              <a:t>🛡️  سر الـ 20% Standby Mode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الأمان أولاً: رؤية واضحة ومستمرة لسائقي الرافعات الشوكية لمنع الحوادث.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حماية الأجهزة: تجنب الصدمات الحرارية العنيفة الناتجة عن الإطفاء الكلي 0%.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وفر هائل: خفض الإضاءة إلى 20% يوفر 80% من الطاقة في أوقات السكون.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00D2FF"/>
                </a:solidFill>
                <a:latin typeface="Segoe UI"/>
              </a:defRPr>
            </a:pPr>
            <a:r>
              <a:t>👁️  الاستشعار المزدوج (Motion + Heat)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دمج حساس الحركة (PIR) مع حساس الحرارة وتأكيد التواجد (DHT).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حل مشكلة العامل الثابت: لو وقف العامل يفحص بضاعة لن ينطفئ النور في وجهه.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استجابة فورية: رفع الإضاءة لـ 100% خلال 2 إلى 3 ثوانٍ فقط عند الدخول.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FF8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FF8A48"/>
                </a:solidFill>
                <a:latin typeface="Segoe UI"/>
              </a:defRPr>
            </a:pPr>
            <a:r>
              <a:t>⚙️  أتمتة كاملة (Zero Friction)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نظام ذاتي 100%: لا يتطلب أي تغيير في عادات وسلوكيات العمال اليومية.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تعتيم انسيابي ناعم (Smooth PWM Fading) يمنع الوميض المجهد للعين.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قابلية التوسع: تصميم مرن يتناسب مع أي مساحة أو تخطيط هندسي للمخازن.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47472"/>
          </a:xfrm>
          <a:prstGeom prst="roundRect">
            <a:avLst/>
          </a:prstGeom>
          <a:solidFill>
            <a:srgbClr val="10262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⚡ CORE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Algorithmic Rules: The 5 Automated Operational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القواعد البرمجية الخمس للتحكم الذكي وحصاد ضوء النهار وتأمين الطوارئ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77724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400" b="0">
                <a:solidFill>
                  <a:srgbClr val="F0F4FA"/>
                </a:solidFill>
                <a:latin typeface="Segoe UI"/>
              </a:defRPr>
            </a:pPr>
            <a:r>
              <a:t>1. وضع الدخول والنشاط (Active 100%) — رفع الإضاءة لكامل السطوع فور رصد حركة أو حرارة خلال 2 إلى 3 ثوانٍ فقط.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10698480" cy="77724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400" b="0">
                <a:solidFill>
                  <a:srgbClr val="F0F4FA"/>
                </a:solidFill>
                <a:latin typeface="Segoe UI"/>
              </a:defRPr>
            </a:pPr>
            <a:r>
              <a:t>2. وضع الاستعداد الذكي (Standby 20%) — التلاشي التلقائي بنعومة إلى 20% عند انعدام الحركة لمهلة محددة دون إطفاء كامل.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698480" cy="77724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FF8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400" b="0">
                <a:solidFill>
                  <a:srgbClr val="F0F4FA"/>
                </a:solidFill>
                <a:latin typeface="Segoe UI"/>
              </a:defRPr>
            </a:pPr>
            <a:r>
              <a:t>3. حصاد ضوء النهار (Daylight Harvesting) — قياس شدة ضوء الشمس وتخفيض الإضاءة الصناعية بنسبة 40% إلى 60% نهاراً عبر LDR.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698480" cy="77724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B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400" b="0">
                <a:solidFill>
                  <a:srgbClr val="F0F4FA"/>
                </a:solidFill>
                <a:latin typeface="Segoe UI"/>
              </a:defRPr>
            </a:pPr>
            <a:r>
              <a:t>4. تخصيص المناطق الديناميكي (Dynamic Zoning) — إبقاء منطقة عمل العامل فقط عند 100% وتعتيم باقي طول الممر لتوفير أقصى طاقة.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400" b="0">
                <a:solidFill>
                  <a:srgbClr val="F0F4FA"/>
                </a:solidFill>
                <a:latin typeface="Segoe UI"/>
              </a:defRPr>
            </a:pPr>
            <a:r>
              <a:t>5. أمان الطوارئ القصوى (Emergency Override) — تشغيل كامل إضاءات المخزن بنسبة 100% فورياً عند استشعار حريق لتسهيل الهروب.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47472"/>
          </a:xfrm>
          <a:prstGeom prst="roundRect">
            <a:avLst/>
          </a:prstGeom>
          <a:solidFill>
            <a:srgbClr val="10262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⚡ PROTOTYPING &amp;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Hardware Architecture: Scale Model &amp; Electronic BOM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مواصفات النموذج الأولي الفيزيائي والابتكارات الهندسية الميدانية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00E676"/>
                </a:solidFill>
                <a:latin typeface="Segoe UI"/>
              </a:defRPr>
            </a:pPr>
            <a:r>
              <a:t>🎛️  المتحكم والدوائر (MCU)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متحكم دقيق Arduino Uno / Mega لمعالجة الحساسات في حلقات سريعة.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مخرجات PWM للتحكم الدقيق في التعتيم التدريجي دون رعشة بصرية.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شاشة LCD مدمجة على المجسم لعرض الوضع (Active/Eco) والواط الموفر.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00D2FF"/>
                </a:solidFill>
                <a:latin typeface="Segoe UI"/>
              </a:defRPr>
            </a:pPr>
            <a:r>
              <a:t>📡  حزمة المستشعرات الذكية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مستشعرات حركة PIR مجهزة بأسطوانات عزل وتوجيه (Blinders) لحجب الممرات المجاورة.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مستشعر حرارة وتواجد DHT11 لتأكيد الوجود البشري في الممر.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مقاومات ضوئية LDR لقياس ضوء النهار وحصاد طاقة الشمس.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FF8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FF8A48"/>
                </a:solidFill>
                <a:latin typeface="Segoe UI"/>
              </a:defRPr>
            </a:pPr>
            <a:r>
              <a:t>📐  المجسم ومعيار التطبيق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مجسم ممر مخزن مطلي بأسود غير لامع لمحاكاة الخواص الضوئية الواقعية.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معيار التوزيع الميداني: مستشعر واحد لكل 8 إلى 10 أمتار على طول الممر.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ترميز لوني معتمد للأسلاك: أحمر للتغذية، أسود للأرضي، أصفر للإشارة.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47472"/>
          </a:xfrm>
          <a:prstGeom prst="roundRect">
            <a:avLst/>
          </a:prstGeom>
          <a:solidFill>
            <a:srgbClr val="10262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⚡ SOFTWARE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Software Platform: Energix Web Simulation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لوحة تحكم سحابية لمتابعة استهلاك المخازن واستخراج تقارير أسبوعية 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00D2FF"/>
                </a:solidFill>
                <a:latin typeface="Segoe UI"/>
              </a:defRPr>
            </a:pPr>
            <a:r>
              <a:t>💻  مميزات لوحة التحكم السحابية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مؤشرات حية (KPIs): تتبع إجمالي الكيلوواط المستهلك والموفر والمبالغ المالية الموفرة.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تصنيف آلي ذكي للمنشآت: تصنيف الوحدات إلى (كفء، متوسط، استهلاك مرتفع بحاجة لمراجعة).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تقارير أسبوعية تفاعلية: استعراض تفاصيل الاستهلاك لكل يوم (من الإثنين للأحد) بضغطة زر.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استخراج تقارير PDF رسمية: ملفات تنفيذية جاهزة للطباعة والمتابعة الإدارية.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إنذارات الصيانة التنبؤية: كشف مبكر لاضطرابات الطاقة أو الحساسات المتعطلة.</a:t>
            </a:r>
          </a:p>
        </p:txBody>
      </p:sp>
      <p:pic>
        <p:nvPicPr>
          <p:cNvPr id="7" name="Picture 6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303520" cy="2057400"/>
          </a:xfrm>
          <a:prstGeom prst="rect">
            <a:avLst/>
          </a:prstGeom>
        </p:spPr>
      </p:pic>
      <p:pic>
        <p:nvPicPr>
          <p:cNvPr id="8" name="Picture 7" descr="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251960"/>
            <a:ext cx="530352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47472"/>
          </a:xfrm>
          <a:prstGeom prst="roundRect">
            <a:avLst/>
          </a:prstGeom>
          <a:solidFill>
            <a:srgbClr val="10262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⚡ ⭐ STAR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🌟 New Feature (Plan A): Grok AI Warehouse Co-Pilot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المساعد الذكي للمخزن: تخاطب باللغة الطبيعية وتحكم فوري بالهاردوير (xAI Tool Calling)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00E676"/>
                </a:solidFill>
                <a:latin typeface="Segoe UI"/>
              </a:defRPr>
            </a:pPr>
            <a:r>
              <a:t>🗣️  التخاطب باللغة الطبيعية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المدير يتحدث مع المخزن صوتياً أو نصياً بالعربية أو الإنجليزية.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سؤال تحليلي: 'يا جروك وفرنا كام كهرباء الأسبوع ده؟'.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Grok يحلل البيانات ويجيب فوراً: 'وفرتم 59 كيلوواط بنسبة 68%'.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00D2FF"/>
                </a:solidFill>
                <a:latin typeface="Segoe UI"/>
              </a:defRPr>
            </a:pPr>
            <a:r>
              <a:t>⚡  تحكم ميداني بالهاردوير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Grok يستدعي دوال التحكم في الأردوينو مباشرة (Function Calling).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أمر فوري: 'اطفي ممر 1 للصيانة حالاً'.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اللمبة تنطفئ في النموذج المصغر فورياً أمام لجنة التحكيم!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FF8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FF8A48"/>
                </a:solidFill>
                <a:latin typeface="Segoe UI"/>
              </a:defRPr>
            </a:pPr>
            <a:r>
              <a:t>🧠  تشخيص استباقي للأعطال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تحليل شذوذ الاستهلاك: 'ليه ممر 2 استهلاكه عالي الأسبوع ده؟'.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Grok يكشف السبب: 'حساس ممر 2 يسجل حركة مستمرة، ننصح بفحص مهلة السكون'.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تقديم حلول وإجراءات صيانة وقائية للمشرف.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47472"/>
          </a:xfrm>
          <a:prstGeom prst="roundRect">
            <a:avLst/>
          </a:prstGeom>
          <a:solidFill>
            <a:srgbClr val="10262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⚡ VALIDATION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Proven Results: 4-Week Warehouse 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نتائج الاختبارات المعملية الموثقة: أرقام قياسية في ترشيد الكهرباء وسرعة الاستجابة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7560" cy="196596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200"/>
              </a:spcAft>
              <a:defRPr sz="3400" b="1">
                <a:solidFill>
                  <a:srgbClr val="00E676"/>
                </a:solidFill>
                <a:latin typeface="Segoe UI"/>
              </a:defRPr>
            </a:pPr>
            <a:r>
              <a:t>65% - 70%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الوفر الإجمالي الأسبوعي</a:t>
            </a:r>
          </a:p>
          <a:p>
            <a:pPr>
              <a:defRPr sz="1200">
                <a:solidFill>
                  <a:srgbClr val="A0AFC8"/>
                </a:solidFill>
                <a:latin typeface="Segoe UI"/>
              </a:defRPr>
            </a:pPr>
            <a:r>
              <a:t>في فاتورة الكهرباء مقارنة بالنظام التقليدي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37560" cy="196596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200"/>
              </a:spcAft>
              <a:defRPr sz="3400" b="1">
                <a:solidFill>
                  <a:srgbClr val="00D2FF"/>
                </a:solidFill>
                <a:latin typeface="Segoe UI"/>
              </a:defRPr>
            </a:pPr>
            <a:r>
              <a:t>80%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وفر ساعات السكون والليل</a:t>
            </a:r>
          </a:p>
          <a:p>
            <a:pPr>
              <a:defRPr sz="1200">
                <a:solidFill>
                  <a:srgbClr val="A0AFC8"/>
                </a:solidFill>
                <a:latin typeface="Segoe UI"/>
              </a:defRPr>
            </a:pPr>
            <a:r>
              <a:t>خلال العمل بوضع الاستعداد الآمن 20%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37560" cy="196596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FF8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200"/>
              </a:spcAft>
              <a:defRPr sz="3400" b="1">
                <a:solidFill>
                  <a:srgbClr val="FF8A48"/>
                </a:solidFill>
                <a:latin typeface="Segoe UI"/>
              </a:defRPr>
            </a:pPr>
            <a:r>
              <a:t>40% - 60%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وفر إضافي بالنهار</a:t>
            </a:r>
          </a:p>
          <a:p>
            <a:pPr>
              <a:defRPr sz="1200">
                <a:solidFill>
                  <a:srgbClr val="A0AFC8"/>
                </a:solidFill>
                <a:latin typeface="Segoe UI"/>
              </a:defRPr>
            </a:pPr>
            <a:r>
              <a:t>بفضل استغلال ضوء الشمس الطبيعي عبر LDR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3337560" cy="196596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B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200"/>
              </a:spcAft>
              <a:defRPr sz="3400" b="1">
                <a:solidFill>
                  <a:srgbClr val="BA68FF"/>
                </a:solidFill>
                <a:latin typeface="Segoe UI"/>
              </a:defRPr>
            </a:pPr>
            <a:r>
              <a:t>2 - 3 ثوانٍ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سرعة استجابة الدخول</a:t>
            </a:r>
          </a:p>
          <a:p>
            <a:pPr>
              <a:defRPr sz="1200">
                <a:solidFill>
                  <a:srgbClr val="A0AFC8"/>
                </a:solidFill>
                <a:latin typeface="Segoe UI"/>
              </a:defRPr>
            </a:pPr>
            <a:r>
              <a:t>سرعة رفع الإضاءة لـ 100% فور دخول العامل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206240"/>
            <a:ext cx="3337560" cy="196596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200"/>
              </a:spcAft>
              <a:defRPr sz="3400" b="1">
                <a:solidFill>
                  <a:srgbClr val="EC4899"/>
                </a:solidFill>
                <a:latin typeface="Segoe UI"/>
              </a:defRPr>
            </a:pPr>
            <a:r>
              <a:t>96.4%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دقة استشعار الحركة</a:t>
            </a:r>
          </a:p>
          <a:p>
            <a:pPr>
              <a:defRPr sz="1200">
                <a:solidFill>
                  <a:srgbClr val="A0AFC8"/>
                </a:solidFill>
                <a:latin typeface="Segoe UI"/>
              </a:defRPr>
            </a:pPr>
            <a:r>
              <a:t>نسبة إنذار خاطئ أقل من 3% في بيئة العمل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206240"/>
            <a:ext cx="3337560" cy="196596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200"/>
              </a:spcAft>
              <a:defRPr sz="3400" b="1">
                <a:solidFill>
                  <a:srgbClr val="0EA5E9"/>
                </a:solidFill>
                <a:latin typeface="Segoe UI"/>
              </a:defRPr>
            </a:pPr>
            <a:r>
              <a:t>15 - 20 سنة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مضاعفة عمر المصابيح</a:t>
            </a:r>
          </a:p>
          <a:p>
            <a:pPr>
              <a:defRPr sz="1200">
                <a:solidFill>
                  <a:srgbClr val="A0AFC8"/>
                </a:solidFill>
                <a:latin typeface="Segoe UI"/>
              </a:defRPr>
            </a:pPr>
            <a:r>
              <a:t>بفضل التعتيم السلس وتجنب دورات الإطفاء الصفرية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47472"/>
          </a:xfrm>
          <a:prstGeom prst="roundRect">
            <a:avLst/>
          </a:prstGeom>
          <a:solidFill>
            <a:srgbClr val="10262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⚡ MARKET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Business Model Canvas &amp; Commercial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نموذج العمل التجاري، القيمة التنافسية، والشرائح المستهدفة في السوق الصناعي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00E676"/>
                </a:solidFill>
                <a:latin typeface="Segoe UI"/>
              </a:defRPr>
            </a:pPr>
            <a:r>
              <a:t>💎  القيمة المضافة (Value Props)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وفر 65-70% موثق في فاتورة الكهرباء.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مساعد ذكي Grok AI للتحكم والتشخيص الفوري.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صفر تغيير في روتين أو طريقة عمل العمال.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مضاعفة العمر الافتراضي للمصابيح وخفض تكلفة الصيانة.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00D2FF"/>
                </a:solidFill>
                <a:latin typeface="Segoe UI"/>
              </a:defRPr>
            </a:pPr>
            <a:r>
              <a:t>🎯  شرائح العملاء المستهدفة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فئة (أ): المخازن ومراكز التوزيع اللوجستية الضخمة.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فئة (ب): المصانع ومستودعات التخزين المتوسطة والصغيرة.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مستودعات التبريد والتجميد (Cold Storage).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سلاسل التجزئة ومخازن الهايبر ماركت الكبرى.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37560" cy="4297680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FF8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56032" bIns="182880"/>
          <a:lstStyle/>
          <a:p>
            <a:pPr algn="ctr">
              <a:spcAft>
                <a:spcPts val="1400"/>
              </a:spcAft>
              <a:defRPr sz="2000" b="1">
                <a:solidFill>
                  <a:srgbClr val="FF8A48"/>
                </a:solidFill>
                <a:latin typeface="Segoe UI"/>
              </a:defRPr>
            </a:pPr>
            <a:r>
              <a:t>💰  مصادر الإيرادات (Revenues)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رسوم توريد وتركيب عتاد وأجهزة التحكم الأولية.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اشتراكات سنوية في برمجيات المنصة السحابية (SaaS).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عقود الصيانة والدعم الفني السنوية (SLA).</a:t>
            </a:r>
          </a:p>
          <a:p>
            <a:pPr>
              <a:spcAft>
                <a:spcPts val="1000"/>
              </a:spcAft>
              <a:defRPr sz="1400">
                <a:solidFill>
                  <a:srgbClr val="F0F4FA"/>
                </a:solidFill>
                <a:latin typeface="Segoe UI"/>
              </a:defRPr>
            </a:pPr>
            <a:r>
              <a:t>•  نموذج المشاركة في الوفر المحقق (% من الوفر).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47472"/>
          </a:xfrm>
          <a:prstGeom prst="roundRect">
            <a:avLst/>
          </a:prstGeom>
          <a:solidFill>
            <a:srgbClr val="10262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⚡ SUSTAINABILITY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 SDGs &amp; Strategic Industrial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0D2FF"/>
                </a:solidFill>
                <a:latin typeface="Segoe UI"/>
              </a:defRPr>
            </a:pPr>
            <a:r>
              <a:t>التوافق مع أهداف التنمية المستدامة والتوسع الصناعي المستقبلي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896112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200"/>
              </a:spcAft>
              <a:defRPr sz="1600" b="1">
                <a:solidFill>
                  <a:srgbClr val="00E676"/>
                </a:solidFill>
                <a:latin typeface="Segoe UI"/>
              </a:defRPr>
            </a:pPr>
            <a:r>
              <a:t>🚀 الأولوية لمستودعات التبريد (Cold Storage Priority)  [وفر مزدوج]</a:t>
            </a:r>
          </a:p>
          <a:p>
            <a:pPr>
              <a:defRPr sz="1300">
                <a:solidFill>
                  <a:srgbClr val="F0F4FA"/>
                </a:solidFill>
                <a:latin typeface="Segoe UI"/>
              </a:defRPr>
            </a:pPr>
            <a:r>
              <a:t>البدء بمخازن التبريد لأن حرارة المصابيح تزيد حمل أجهزة التبريد، مما يحقق وفراً مزدوجاً.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896112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2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🚀 التكامل مع أنظمة الـ WMS / ERP  [تكامل لوجستي]</a:t>
            </a:r>
          </a:p>
          <a:p>
            <a:pPr>
              <a:defRPr sz="1300">
                <a:solidFill>
                  <a:srgbClr val="F0F4FA"/>
                </a:solidFill>
                <a:latin typeface="Segoe UI"/>
              </a:defRPr>
            </a:pPr>
            <a:r>
              <a:t>ربط الحساسات بجداول وصول الشاحنات لإضاءة الممرات استباقياً قبل وصول عمال التفريغ.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896112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FF8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200"/>
              </a:spcAft>
              <a:defRPr sz="1600" b="1">
                <a:solidFill>
                  <a:srgbClr val="FF8A48"/>
                </a:solidFill>
                <a:latin typeface="Segoe UI"/>
              </a:defRPr>
            </a:pPr>
            <a:r>
              <a:t>🚀 خوارزميات التعلم الآلي لضبط المهلة (AI Tuning)  [ضبط ذاتي بالذكاء الاصطناعي]</a:t>
            </a:r>
          </a:p>
          <a:p>
            <a:pPr>
              <a:defRPr sz="1300">
                <a:solidFill>
                  <a:srgbClr val="F0F4FA"/>
                </a:solidFill>
                <a:latin typeface="Segoe UI"/>
              </a:defRPr>
            </a:pPr>
            <a:r>
              <a:t>تحليل كثافة الحركة لتعديل وقت السكون آلياً لكل ممر بناءً على تاريخ نشاطه الحقيقي.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698480" cy="896112"/>
          </a:xfrm>
          <a:prstGeom prst="roundRect">
            <a:avLst/>
          </a:prstGeom>
          <a:solidFill>
            <a:srgbClr val="111A2A"/>
          </a:solidFill>
          <a:ln w="25400">
            <a:solidFill>
              <a:srgbClr val="B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200"/>
              </a:spcAft>
              <a:defRPr sz="1600" b="1">
                <a:solidFill>
                  <a:srgbClr val="BA68FF"/>
                </a:solidFill>
                <a:latin typeface="Segoe UI"/>
              </a:defRPr>
            </a:pPr>
            <a:r>
              <a:t>🚀 أهداف الأمم المتحدة للتنمية المستدامة (UN SDGs)  [SDGs 8, 9, 12, 17]</a:t>
            </a:r>
          </a:p>
          <a:p>
            <a:pPr>
              <a:defRPr sz="1300">
                <a:solidFill>
                  <a:srgbClr val="F0F4FA"/>
                </a:solidFill>
                <a:latin typeface="Segoe UI"/>
              </a:defRPr>
            </a:pPr>
            <a:r>
              <a:t>تحقيق الأهداف 8 (العمل اللائق)، 9 (الصناعة والابتكار)، 12 (الاستهلاك المسؤول)، و17 (الشراكات).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Segoe UI"/>
              </a:defRPr>
            </a:pPr>
            <a:r>
              <a:t>Energix: قيادة مستقبل كفاءة الطاقة في المخازن</a:t>
            </a:r>
          </a:p>
          <a:p>
            <a:pPr>
              <a:defRPr sz="2000" b="1">
                <a:solidFill>
                  <a:srgbClr val="00D2FF"/>
                </a:solidFill>
                <a:latin typeface="Segoe UI"/>
              </a:defRPr>
            </a:pPr>
            <a:r>
              <a:t>نظام متكامل يجمع بين كفاءة الطاقة الموثقة، وأمان العاملين، وقوة الذكاء الاصطناعي التوليدي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10332720" cy="2926080"/>
          </a:xfrm>
          <a:prstGeom prst="roundRect">
            <a:avLst/>
          </a:prstGeom>
          <a:solidFill>
            <a:srgbClr val="111A2A"/>
          </a:solidFill>
          <a:ln w="317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400"/>
              </a:spcAft>
              <a:defRPr sz="2200" b="1">
                <a:solidFill>
                  <a:srgbClr val="00E676"/>
                </a:solidFill>
                <a:latin typeface="Segoe UI"/>
              </a:defRPr>
            </a:pPr>
            <a:r>
              <a:t>🎬 استعراض العرض الحي المباشر (Interactive Live Demo)</a:t>
            </a:r>
          </a:p>
          <a:p>
            <a:pPr>
              <a:spcAft>
                <a:spcPts val="1000"/>
              </a:spcAft>
              <a:defRPr sz="1500">
                <a:solidFill>
                  <a:srgbClr val="F0F4FA"/>
                </a:solidFill>
                <a:latin typeface="Segoe UI"/>
              </a:defRPr>
            </a:pPr>
            <a:r>
              <a:t>•  1. النموذج الفيزيائي المصغر: اختبار رفع النور الفوري لـ 100%، التعتيم الانسيابي PWM، وتفعيل وضع الـ 20% Standby.</a:t>
            </a:r>
          </a:p>
          <a:p>
            <a:pPr>
              <a:spcAft>
                <a:spcPts val="1000"/>
              </a:spcAft>
              <a:defRPr sz="1500">
                <a:solidFill>
                  <a:srgbClr val="F0F4FA"/>
                </a:solidFill>
                <a:latin typeface="Segoe UI"/>
              </a:defRPr>
            </a:pPr>
            <a:r>
              <a:t>•  2. لوحة التحكم السحابية: استعراض تتبع الطاقة لايف، وتصنيف المنشآت، وتوليد تقرير الـ PDF الأسبوعي.</a:t>
            </a:r>
          </a:p>
          <a:p>
            <a:pPr>
              <a:spcAft>
                <a:spcPts val="1000"/>
              </a:spcAft>
              <a:defRPr sz="1500">
                <a:solidFill>
                  <a:srgbClr val="F0F4FA"/>
                </a:solidFill>
                <a:latin typeface="Segoe UI"/>
              </a:defRPr>
            </a:pPr>
            <a:r>
              <a:t>•  3. التخاطب الحي مع Grok AI: توجيه سؤال تحليلي صوتي/نصي عن التوفير، وإصدار أمر إطفاء للممر ليتم تنفيذه على النموذج فوراً!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